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skBoard" id="{a69bbba0-d487-26db-5c37-67cae5a0a442}">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TaskBoard is a simple task app, and the real goal is to show the whole journey a piece of software takes: write, test, package, deploy and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simple task manager. WHY: to learn and show the full DevOps journey. The numbers come from the project: 13 pytest tests, three services (frontend, backend, PostgreSQL) and a backend that scales from 2 to 6 pods.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groups left to right, top to bottom: build, test and package, run in the cloud, watch. Use the one-line meaning next to each tool; no need to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for every row: there are other good options, but I picked the one that is simplest to learn, widely used in industry and works well with the rest of the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repo on GitHub: folders for backend, frontend, helm, k8s, monitoring and the CI workflow. 43 commits with meaningful messages (feat, fix, docs) instead of vague ones like 'update'. The two packages are the Docker images pushed by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Docker is the shipping container, Kubernetes is the port manager who decides where containers go, replaces broken ones and adds more when it gets busy. Left screenshot: docker compose up builds and starts postgres, backend and frontend, and the app opens on localhost:3000. Right screenshot: kubectl get pods shows the backend, frontend and postgres pods Running, and the app opens through the Ingress at taskboard.local. The Terraform code in the repo builds the same on AWS 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to main triggers the pipeline: test, build, scan, push, deploy. If tests fail, nothing is shipped. Images are tagged with the commit ID so any running container maps back to the exact code. The screenshot is a real run (#28) where all three jobs passed in about 1m 34s.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endpoints give Kubernetes and Prometheus what they need: /health (alive), /ready (can serve traffic, checks the database) and /metrics (numbers). Grafana panels show requests per second, slowest endpoint (p95 latency), error rate and CPU versus number of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the first Trivy scan found 6 fixable HIGH issues in python-multipart and starlette. Upgrading them took the Python findings to zero. Debian OS findings with no published fix are ignored on purpose (ignore-unfixed), which is standard practice. Troubleshooting: two practice labs, a wrong image tag and a Service whose selector matches no Pods. Reminder: run terraform destroy after the demo to avoid AWS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lessons. Then run the short live demo: create a task, push a small change, watch the Actions pipeline go green, show kubectl get pods with everything Running, and finish by breaking a Service selector and fixing it live. After the demo, run terraform destroy if you built the AWS infrastructure, to avoid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7863840" cy="10058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2011680"/>
            <a:ext cx="7498080" cy="8229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914400"/>
            <a:ext cx="7863840" cy="1005840"/>
          </a:xfrm>
          <a:prstGeom prst="rect">
            <a:avLst/>
          </a:prstGeom>
          <a:noFill/>
          <a:ln/>
        </p:spPr>
        <p:txBody>
          <a:bodyPr wrap="square" lIns="0" tIns="0" rIns="0" bIns="0" rtlCol="0" anchor="ctr"/>
          <a:lstStyle/>
          <a:p>
            <a:pPr algn="l" indent="0" marL="0">
              <a:buNone/>
            </a:pPr>
            <a:r>
              <a:rPr lang="en-US" sz="4800" b="1" dirty="0">
                <a:solidFill>
                  <a:schemeClr val="bg1"/>
                </a:solidFill>
              </a:rPr>
              <a:t>TaskBoard</a:t>
            </a:r>
            <a:endParaRPr lang="en-US" sz="4800" dirty="0"/>
          </a:p>
        </p:txBody>
      </p:sp>
      <p:sp>
        <p:nvSpPr>
          <p:cNvPr id="3" name="Text 0"/>
          <p:cNvSpPr/>
          <p:nvPr>
            <p:ph idx="101" type="body" hasCustomPrompt="1"/>
          </p:nvPr>
        </p:nvSpPr>
        <p:spPr>
          <a:xfrm>
            <a:off x="640080" y="2011680"/>
            <a:ext cx="7498080" cy="822960"/>
          </a:xfrm>
          <a:prstGeom prst="rect">
            <a:avLst/>
          </a:prstGeom>
          <a:noFill/>
          <a:ln/>
        </p:spPr>
        <p:txBody>
          <a:bodyPr wrap="square" lIns="0" tIns="0" rIns="0" bIns="0" rtlCol="0" anchor="t"/>
          <a:lstStyle/>
          <a:p>
            <a:pPr algn="l" indent="0" marL="0">
              <a:buNone/>
            </a:pPr>
            <a:r>
              <a:rPr lang="en-US" sz="1800" dirty="0">
                <a:solidFill>
                  <a:schemeClr val="bg2"/>
                </a:solidFill>
              </a:rPr>
              <a:t>How software travels from a laptop to the cloud: my DevOps capstone project</a:t>
            </a:r>
            <a:endParaRPr lang="en-US" sz="1800" dirty="0"/>
          </a:p>
        </p:txBody>
      </p:sp>
      <p:sp>
        <p:nvSpPr>
          <p:cNvPr id="4" name="Journey line"/>
          <p:cNvSpPr/>
          <p:nvPr/>
        </p:nvSpPr>
        <p:spPr>
          <a:xfrm>
            <a:off x="1234440" y="3657600"/>
            <a:ext cx="6766560" cy="0"/>
          </a:xfrm>
          <a:prstGeom prst="line">
            <a:avLst/>
          </a:prstGeom>
          <a:noFill/>
          <a:ln w="25400">
            <a:solidFill>
              <a:schemeClr val="accent1"/>
            </a:solidFill>
            <a:prstDash val="solid"/>
          </a:ln>
        </p:spPr>
      </p:sp>
      <p:sp>
        <p:nvSpPr>
          <p:cNvPr id="5" name="Step circle 1"/>
          <p:cNvSpPr/>
          <p:nvPr/>
        </p:nvSpPr>
        <p:spPr>
          <a:xfrm>
            <a:off x="1005840" y="3429000"/>
            <a:ext cx="457200" cy="457200"/>
          </a:xfrm>
          <a:prstGeom prst="ellipse">
            <a:avLst/>
          </a:prstGeom>
          <a:solidFill>
            <a:schemeClr val="accent1"/>
          </a:solidFill>
          <a:ln w="38100">
            <a:solidFill>
              <a:schemeClr val="tx1"/>
            </a:solidFill>
            <a:prstDash val="solid"/>
          </a:ln>
        </p:spPr>
      </p:sp>
      <p:sp>
        <p:nvSpPr>
          <p:cNvPr id="6" name="Step number 1"/>
          <p:cNvSpPr txBox="1"/>
          <p:nvPr/>
        </p:nvSpPr>
        <p:spPr>
          <a:xfrm>
            <a:off x="100584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Step label 1"/>
          <p:cNvSpPr txBox="1"/>
          <p:nvPr/>
        </p:nvSpPr>
        <p:spPr>
          <a:xfrm>
            <a:off x="548640" y="3977640"/>
            <a:ext cx="1371600" cy="320040"/>
          </a:xfrm>
          <a:prstGeom prst="rect">
            <a:avLst/>
          </a:prstGeom>
          <a:noFill/>
          <a:ln/>
        </p:spPr>
        <p:txBody>
          <a:bodyPr wrap="square" lIns="0" tIns="0" rIns="0" bIns="0" rtlCol="0" anchor="t"/>
          <a:lstStyle/>
          <a:p>
            <a:pPr algn="ctr" indent="0" marL="0">
              <a:buNone/>
            </a:pPr>
            <a:r>
              <a:rPr lang="en-US" sz="1400" dirty="0">
                <a:solidFill>
                  <a:schemeClr val="bg2"/>
                </a:solidFill>
              </a:rPr>
              <a:t>Write code</a:t>
            </a:r>
            <a:endParaRPr lang="en-US" sz="1400" dirty="0"/>
          </a:p>
        </p:txBody>
      </p:sp>
      <p:sp>
        <p:nvSpPr>
          <p:cNvPr id="8" name="Step circle 2"/>
          <p:cNvSpPr/>
          <p:nvPr/>
        </p:nvSpPr>
        <p:spPr>
          <a:xfrm>
            <a:off x="2697480" y="3429000"/>
            <a:ext cx="457200" cy="457200"/>
          </a:xfrm>
          <a:prstGeom prst="ellipse">
            <a:avLst/>
          </a:prstGeom>
          <a:solidFill>
            <a:schemeClr val="accent1"/>
          </a:solidFill>
          <a:ln w="38100">
            <a:solidFill>
              <a:schemeClr val="tx1"/>
            </a:solidFill>
            <a:prstDash val="solid"/>
          </a:ln>
        </p:spPr>
      </p:sp>
      <p:sp>
        <p:nvSpPr>
          <p:cNvPr id="9" name="Step number 2"/>
          <p:cNvSpPr txBox="1"/>
          <p:nvPr/>
        </p:nvSpPr>
        <p:spPr>
          <a:xfrm>
            <a:off x="269748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Step label 2"/>
          <p:cNvSpPr txBox="1"/>
          <p:nvPr/>
        </p:nvSpPr>
        <p:spPr>
          <a:xfrm>
            <a:off x="2240280" y="3977640"/>
            <a:ext cx="1371600" cy="320040"/>
          </a:xfrm>
          <a:prstGeom prst="rect">
            <a:avLst/>
          </a:prstGeom>
          <a:noFill/>
          <a:ln/>
        </p:spPr>
        <p:txBody>
          <a:bodyPr wrap="square" lIns="0" tIns="0" rIns="0" bIns="0" rtlCol="0" anchor="t"/>
          <a:lstStyle/>
          <a:p>
            <a:pPr algn="ctr" indent="0" marL="0">
              <a:buNone/>
            </a:pPr>
            <a:r>
              <a:rPr lang="en-US" sz="1400" dirty="0">
                <a:solidFill>
                  <a:schemeClr val="bg2"/>
                </a:solidFill>
              </a:rPr>
              <a:t>Test</a:t>
            </a:r>
            <a:endParaRPr lang="en-US" sz="1400" dirty="0"/>
          </a:p>
        </p:txBody>
      </p:sp>
      <p:sp>
        <p:nvSpPr>
          <p:cNvPr id="11" name="Step circle 3"/>
          <p:cNvSpPr/>
          <p:nvPr/>
        </p:nvSpPr>
        <p:spPr>
          <a:xfrm>
            <a:off x="4389120" y="3429000"/>
            <a:ext cx="457200" cy="457200"/>
          </a:xfrm>
          <a:prstGeom prst="ellipse">
            <a:avLst/>
          </a:prstGeom>
          <a:solidFill>
            <a:schemeClr val="accent1"/>
          </a:solidFill>
          <a:ln w="38100">
            <a:solidFill>
              <a:schemeClr val="tx1"/>
            </a:solidFill>
            <a:prstDash val="solid"/>
          </a:ln>
        </p:spPr>
      </p:sp>
      <p:sp>
        <p:nvSpPr>
          <p:cNvPr id="12" name="Step number 3"/>
          <p:cNvSpPr txBox="1"/>
          <p:nvPr/>
        </p:nvSpPr>
        <p:spPr>
          <a:xfrm>
            <a:off x="438912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Step label 3"/>
          <p:cNvSpPr txBox="1"/>
          <p:nvPr/>
        </p:nvSpPr>
        <p:spPr>
          <a:xfrm>
            <a:off x="3931920" y="3977640"/>
            <a:ext cx="1371600" cy="320040"/>
          </a:xfrm>
          <a:prstGeom prst="rect">
            <a:avLst/>
          </a:prstGeom>
          <a:noFill/>
          <a:ln/>
        </p:spPr>
        <p:txBody>
          <a:bodyPr wrap="square" lIns="0" tIns="0" rIns="0" bIns="0" rtlCol="0" anchor="t"/>
          <a:lstStyle/>
          <a:p>
            <a:pPr algn="ctr" indent="0" marL="0">
              <a:buNone/>
            </a:pPr>
            <a:r>
              <a:rPr lang="en-US" sz="1400" dirty="0">
                <a:solidFill>
                  <a:schemeClr val="bg2"/>
                </a:solidFill>
              </a:rPr>
              <a:t>Package</a:t>
            </a:r>
            <a:endParaRPr lang="en-US" sz="1400" dirty="0"/>
          </a:p>
        </p:txBody>
      </p:sp>
      <p:sp>
        <p:nvSpPr>
          <p:cNvPr id="14" name="Step circle 4"/>
          <p:cNvSpPr/>
          <p:nvPr/>
        </p:nvSpPr>
        <p:spPr>
          <a:xfrm>
            <a:off x="6080760" y="3429000"/>
            <a:ext cx="457200" cy="457200"/>
          </a:xfrm>
          <a:prstGeom prst="ellipse">
            <a:avLst/>
          </a:prstGeom>
          <a:solidFill>
            <a:schemeClr val="accent1"/>
          </a:solidFill>
          <a:ln w="38100">
            <a:solidFill>
              <a:schemeClr val="tx1"/>
            </a:solidFill>
            <a:prstDash val="solid"/>
          </a:ln>
        </p:spPr>
      </p:sp>
      <p:sp>
        <p:nvSpPr>
          <p:cNvPr id="15" name="Step number 4"/>
          <p:cNvSpPr txBox="1"/>
          <p:nvPr/>
        </p:nvSpPr>
        <p:spPr>
          <a:xfrm>
            <a:off x="608076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Step label 4"/>
          <p:cNvSpPr txBox="1"/>
          <p:nvPr/>
        </p:nvSpPr>
        <p:spPr>
          <a:xfrm>
            <a:off x="5623560" y="3977640"/>
            <a:ext cx="1371600" cy="320040"/>
          </a:xfrm>
          <a:prstGeom prst="rect">
            <a:avLst/>
          </a:prstGeom>
          <a:noFill/>
          <a:ln/>
        </p:spPr>
        <p:txBody>
          <a:bodyPr wrap="square" lIns="0" tIns="0" rIns="0" bIns="0" rtlCol="0" anchor="t"/>
          <a:lstStyle/>
          <a:p>
            <a:pPr algn="ctr" indent="0" marL="0">
              <a:buNone/>
            </a:pPr>
            <a:r>
              <a:rPr lang="en-US" sz="1400" dirty="0">
                <a:solidFill>
                  <a:schemeClr val="bg2"/>
                </a:solidFill>
              </a:rPr>
              <a:t>Deploy</a:t>
            </a:r>
            <a:endParaRPr lang="en-US" sz="1400" dirty="0"/>
          </a:p>
        </p:txBody>
      </p:sp>
      <p:sp>
        <p:nvSpPr>
          <p:cNvPr id="17" name="Step circle 5"/>
          <p:cNvSpPr/>
          <p:nvPr/>
        </p:nvSpPr>
        <p:spPr>
          <a:xfrm>
            <a:off x="7772400" y="3429000"/>
            <a:ext cx="457200" cy="457200"/>
          </a:xfrm>
          <a:prstGeom prst="ellipse">
            <a:avLst/>
          </a:prstGeom>
          <a:solidFill>
            <a:schemeClr val="accent1"/>
          </a:solidFill>
          <a:ln w="38100">
            <a:solidFill>
              <a:schemeClr val="tx1"/>
            </a:solidFill>
            <a:prstDash val="solid"/>
          </a:ln>
        </p:spPr>
      </p:sp>
      <p:sp>
        <p:nvSpPr>
          <p:cNvPr id="18" name="Step number 5"/>
          <p:cNvSpPr txBox="1"/>
          <p:nvPr/>
        </p:nvSpPr>
        <p:spPr>
          <a:xfrm>
            <a:off x="7772400" y="3429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Step label 5"/>
          <p:cNvSpPr txBox="1"/>
          <p:nvPr/>
        </p:nvSpPr>
        <p:spPr>
          <a:xfrm>
            <a:off x="7315200" y="3977640"/>
            <a:ext cx="1371600" cy="320040"/>
          </a:xfrm>
          <a:prstGeom prst="rect">
            <a:avLst/>
          </a:prstGeom>
          <a:noFill/>
          <a:ln/>
        </p:spPr>
        <p:txBody>
          <a:bodyPr wrap="square" lIns="0" tIns="0" rIns="0" bIns="0" rtlCol="0" anchor="t"/>
          <a:lstStyle/>
          <a:p>
            <a:pPr algn="ctr" indent="0" marL="0">
              <a:buNone/>
            </a:pPr>
            <a:r>
              <a:rPr lang="en-US" sz="1400" dirty="0">
                <a:solidFill>
                  <a:schemeClr val="bg2"/>
                </a:solidFill>
              </a:rPr>
              <a:t>Monitor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What I'm building, and why</a:t>
            </a:r>
            <a:endParaRPr lang="en-US" sz="3200" dirty="0"/>
          </a:p>
        </p:txBody>
      </p:sp>
      <p:sp>
        <p:nvSpPr>
          <p:cNvPr id="3" name="What card"/>
          <p:cNvSpPr/>
          <p:nvPr/>
        </p:nvSpPr>
        <p:spPr>
          <a:xfrm>
            <a:off x="457200" y="1188720"/>
            <a:ext cx="3977640" cy="2148840"/>
          </a:xfrm>
          <a:prstGeom prst="roundRect">
            <a:avLst>
              <a:gd name="adj" fmla="val 3404"/>
            </a:avLst>
          </a:prstGeom>
          <a:solidFill>
            <a:schemeClr val="bg2"/>
          </a:solidFill>
          <a:ln/>
        </p:spPr>
      </p:sp>
      <p:sp>
        <p:nvSpPr>
          <p:cNvPr id="4" name="What label"/>
          <p:cNvSpPr txBox="1"/>
          <p:nvPr/>
        </p:nvSpPr>
        <p:spPr>
          <a:xfrm>
            <a:off x="685800" y="1325880"/>
            <a:ext cx="3520440" cy="320040"/>
          </a:xfrm>
          <a:prstGeom prst="rect">
            <a:avLst/>
          </a:prstGeom>
          <a:noFill/>
          <a:ln/>
        </p:spPr>
        <p:txBody>
          <a:bodyPr wrap="square" lIns="0" tIns="0" rIns="0" bIns="0" rtlCol="0" anchor="ctr"/>
          <a:lstStyle/>
          <a:p>
            <a:pPr indent="0" marL="0">
              <a:buNone/>
            </a:pPr>
            <a:r>
              <a:rPr lang="en-US" sz="1400" b="1" dirty="0">
                <a:solidFill>
                  <a:schemeClr val="accent1"/>
                </a:solidFill>
              </a:rPr>
              <a:t>WHAT</a:t>
            </a:r>
            <a:endParaRPr lang="en-US" sz="1400" dirty="0"/>
          </a:p>
        </p:txBody>
      </p:sp>
      <p:sp>
        <p:nvSpPr>
          <p:cNvPr id="5" name="What text"/>
          <p:cNvSpPr txBox="1"/>
          <p:nvPr/>
        </p:nvSpPr>
        <p:spPr>
          <a:xfrm>
            <a:off x="685800" y="1691640"/>
            <a:ext cx="3520440" cy="1554480"/>
          </a:xfrm>
          <a:prstGeom prst="rect">
            <a:avLst/>
          </a:prstGeom>
          <a:noFill/>
          <a:ln/>
        </p:spPr>
        <p:txBody>
          <a:bodyPr wrap="square" lIns="0" tIns="0" rIns="0" bIns="0" rtlCol="0" anchor="t"/>
          <a:lstStyle/>
          <a:p>
            <a:pPr indent="0" marL="0">
              <a:buNone/>
            </a:pPr>
            <a:r>
              <a:rPr lang="en-US" sz="1400" dirty="0">
                <a:solidFill>
                  <a:schemeClr val="tx1"/>
                </a:solidFill>
              </a:rPr>
              <a:t>TaskBoard is a small project-management app. You create tasks, set their status and priority, and filter or search them on a dashboard.</a:t>
            </a:r>
            <a:endParaRPr lang="en-US" sz="1400" dirty="0"/>
          </a:p>
          <a:p>
            <a:pPr indent="0" marL="0">
              <a:buNone/>
            </a:pPr>
            <a:r>
              <a:rPr lang="en-US" sz="1400" b="1" dirty="0">
                <a:solidFill>
                  <a:schemeClr val="tx1"/>
                </a:solidFill>
              </a:rPr>
              <a:t>The app is simple on purpose. The real project is everything around it.</a:t>
            </a:r>
            <a:endParaRPr lang="en-US" sz="1400" dirty="0"/>
          </a:p>
        </p:txBody>
      </p:sp>
      <p:sp>
        <p:nvSpPr>
          <p:cNvPr id="6" name="Why card"/>
          <p:cNvSpPr/>
          <p:nvPr/>
        </p:nvSpPr>
        <p:spPr>
          <a:xfrm>
            <a:off x="4709160" y="1188720"/>
            <a:ext cx="3977640" cy="2148840"/>
          </a:xfrm>
          <a:prstGeom prst="roundRect">
            <a:avLst>
              <a:gd name="adj" fmla="val 3404"/>
            </a:avLst>
          </a:prstGeom>
          <a:solidFill>
            <a:schemeClr val="bg2"/>
          </a:solidFill>
          <a:ln/>
        </p:spPr>
      </p:sp>
      <p:sp>
        <p:nvSpPr>
          <p:cNvPr id="7" name="Why label"/>
          <p:cNvSpPr txBox="1"/>
          <p:nvPr/>
        </p:nvSpPr>
        <p:spPr>
          <a:xfrm>
            <a:off x="4937760" y="1325880"/>
            <a:ext cx="3520440" cy="320040"/>
          </a:xfrm>
          <a:prstGeom prst="rect">
            <a:avLst/>
          </a:prstGeom>
          <a:noFill/>
          <a:ln/>
        </p:spPr>
        <p:txBody>
          <a:bodyPr wrap="square" lIns="0" tIns="0" rIns="0" bIns="0" rtlCol="0" anchor="ctr"/>
          <a:lstStyle/>
          <a:p>
            <a:pPr indent="0" marL="0">
              <a:buNone/>
            </a:pPr>
            <a:r>
              <a:rPr lang="en-US" sz="1400" b="1" dirty="0">
                <a:solidFill>
                  <a:schemeClr val="accent1"/>
                </a:solidFill>
              </a:rPr>
              <a:t>WHY</a:t>
            </a:r>
            <a:endParaRPr lang="en-US" sz="1400" dirty="0"/>
          </a:p>
        </p:txBody>
      </p:sp>
      <p:sp>
        <p:nvSpPr>
          <p:cNvPr id="8" name="Why text"/>
          <p:cNvSpPr txBox="1"/>
          <p:nvPr/>
        </p:nvSpPr>
        <p:spPr>
          <a:xfrm>
            <a:off x="4937760" y="1691640"/>
            <a:ext cx="3520440" cy="1554480"/>
          </a:xfrm>
          <a:prstGeom prst="rect">
            <a:avLst/>
          </a:prstGeom>
          <a:noFill/>
          <a:ln/>
        </p:spPr>
        <p:txBody>
          <a:bodyPr wrap="square" lIns="0" tIns="0" rIns="0" bIns="0" rtlCol="0" anchor="t"/>
          <a:lstStyle/>
          <a:p>
            <a:pPr indent="0" marL="0">
              <a:buNone/>
            </a:pPr>
            <a:r>
              <a:rPr lang="en-US" sz="1400" dirty="0">
                <a:solidFill>
                  <a:schemeClr val="tx1"/>
                </a:solidFill>
              </a:rPr>
              <a:t>Writing code is only half the job. Real teams must also test it, package it, deploy it, scale it and watch it.</a:t>
            </a:r>
            <a:endParaRPr lang="en-US" sz="1400" dirty="0"/>
          </a:p>
          <a:p>
            <a:pPr indent="0" marL="0">
              <a:buNone/>
            </a:pPr>
            <a:r>
              <a:rPr lang="en-US" sz="1400" b="1" dirty="0">
                <a:solidFill>
                  <a:schemeClr val="tx1"/>
                </a:solidFill>
              </a:rPr>
              <a:t>TaskBoard is my practice run of that whole journey, done the way companies do it.</a:t>
            </a:r>
            <a:endParaRPr lang="en-US" sz="1400" dirty="0"/>
          </a:p>
        </p:txBody>
      </p:sp>
      <p:sp>
        <p:nvSpPr>
          <p:cNvPr id="9" name="Stat 1 number"/>
          <p:cNvSpPr txBox="1"/>
          <p:nvPr/>
        </p:nvSpPr>
        <p:spPr>
          <a:xfrm>
            <a:off x="457200" y="3611880"/>
            <a:ext cx="2560320" cy="502920"/>
          </a:xfrm>
          <a:prstGeom prst="rect">
            <a:avLst/>
          </a:prstGeom>
          <a:noFill/>
          <a:ln/>
        </p:spPr>
        <p:txBody>
          <a:bodyPr wrap="square" lIns="0" tIns="0" rIns="0" bIns="0" rtlCol="0" anchor="ctr"/>
          <a:lstStyle/>
          <a:p>
            <a:pPr indent="0" marL="0">
              <a:buNone/>
            </a:pPr>
            <a:r>
              <a:rPr lang="en-US" sz="3000" b="1" dirty="0">
                <a:solidFill>
                  <a:schemeClr val="accent1"/>
                </a:solidFill>
              </a:rPr>
              <a:t>13</a:t>
            </a:r>
            <a:endParaRPr lang="en-US" sz="3000" dirty="0"/>
          </a:p>
        </p:txBody>
      </p:sp>
      <p:sp>
        <p:nvSpPr>
          <p:cNvPr id="10" name="Stat 1 label"/>
          <p:cNvSpPr txBox="1"/>
          <p:nvPr/>
        </p:nvSpPr>
        <p:spPr>
          <a:xfrm>
            <a:off x="457200" y="4114800"/>
            <a:ext cx="2560320" cy="502920"/>
          </a:xfrm>
          <a:prstGeom prst="rect">
            <a:avLst/>
          </a:prstGeom>
          <a:noFill/>
          <a:ln/>
        </p:spPr>
        <p:txBody>
          <a:bodyPr wrap="square" lIns="0" tIns="0" rIns="0" bIns="0" rtlCol="0" anchor="t"/>
          <a:lstStyle/>
          <a:p>
            <a:pPr indent="0" marL="0">
              <a:buNone/>
            </a:pPr>
            <a:r>
              <a:rPr lang="en-US" sz="1400" dirty="0">
                <a:solidFill>
                  <a:schemeClr val="tx2"/>
                </a:solidFill>
              </a:rPr>
              <a:t>automated tests guard every change</a:t>
            </a:r>
            <a:endParaRPr lang="en-US" sz="1400" dirty="0"/>
          </a:p>
        </p:txBody>
      </p:sp>
      <p:sp>
        <p:nvSpPr>
          <p:cNvPr id="11" name="Stat 2 number"/>
          <p:cNvSpPr txBox="1"/>
          <p:nvPr/>
        </p:nvSpPr>
        <p:spPr>
          <a:xfrm>
            <a:off x="3291840" y="3611880"/>
            <a:ext cx="2560320" cy="502920"/>
          </a:xfrm>
          <a:prstGeom prst="rect">
            <a:avLst/>
          </a:prstGeom>
          <a:noFill/>
          <a:ln/>
        </p:spPr>
        <p:txBody>
          <a:bodyPr wrap="square" lIns="0" tIns="0" rIns="0" bIns="0" rtlCol="0" anchor="ctr"/>
          <a:lstStyle/>
          <a:p>
            <a:pPr indent="0" marL="0">
              <a:buNone/>
            </a:pPr>
            <a:r>
              <a:rPr lang="en-US" sz="3000" b="1" dirty="0">
                <a:solidFill>
                  <a:schemeClr val="accent1"/>
                </a:solidFill>
              </a:rPr>
              <a:t>3</a:t>
            </a:r>
            <a:endParaRPr lang="en-US" sz="3000" dirty="0"/>
          </a:p>
        </p:txBody>
      </p:sp>
      <p:sp>
        <p:nvSpPr>
          <p:cNvPr id="12" name="Stat 2 label"/>
          <p:cNvSpPr txBox="1"/>
          <p:nvPr/>
        </p:nvSpPr>
        <p:spPr>
          <a:xfrm>
            <a:off x="3291840" y="4114800"/>
            <a:ext cx="2560320" cy="502920"/>
          </a:xfrm>
          <a:prstGeom prst="rect">
            <a:avLst/>
          </a:prstGeom>
          <a:noFill/>
          <a:ln/>
        </p:spPr>
        <p:txBody>
          <a:bodyPr wrap="square" lIns="0" tIns="0" rIns="0" bIns="0" rtlCol="0" anchor="t"/>
          <a:lstStyle/>
          <a:p>
            <a:pPr indent="0" marL="0">
              <a:buNone/>
            </a:pPr>
            <a:r>
              <a:rPr lang="en-US" sz="1400" dirty="0">
                <a:solidFill>
                  <a:schemeClr val="tx2"/>
                </a:solidFill>
              </a:rPr>
              <a:t>services: frontend, backend, database</a:t>
            </a:r>
            <a:endParaRPr lang="en-US" sz="1400" dirty="0"/>
          </a:p>
        </p:txBody>
      </p:sp>
      <p:sp>
        <p:nvSpPr>
          <p:cNvPr id="13" name="Stat 3 number"/>
          <p:cNvSpPr txBox="1"/>
          <p:nvPr/>
        </p:nvSpPr>
        <p:spPr>
          <a:xfrm>
            <a:off x="6126480" y="3611880"/>
            <a:ext cx="2560320" cy="502920"/>
          </a:xfrm>
          <a:prstGeom prst="rect">
            <a:avLst/>
          </a:prstGeom>
          <a:noFill/>
          <a:ln/>
        </p:spPr>
        <p:txBody>
          <a:bodyPr wrap="square" lIns="0" tIns="0" rIns="0" bIns="0" rtlCol="0" anchor="ctr"/>
          <a:lstStyle/>
          <a:p>
            <a:pPr indent="0" marL="0">
              <a:buNone/>
            </a:pPr>
            <a:r>
              <a:rPr lang="en-US" sz="3000" b="1" dirty="0">
                <a:solidFill>
                  <a:schemeClr val="accent1"/>
                </a:solidFill>
              </a:rPr>
              <a:t>2 to 6</a:t>
            </a:r>
            <a:endParaRPr lang="en-US" sz="3000" dirty="0"/>
          </a:p>
        </p:txBody>
      </p:sp>
      <p:sp>
        <p:nvSpPr>
          <p:cNvPr id="14" name="Stat 3 label"/>
          <p:cNvSpPr txBox="1"/>
          <p:nvPr/>
        </p:nvSpPr>
        <p:spPr>
          <a:xfrm>
            <a:off x="6126480" y="4114800"/>
            <a:ext cx="2560320" cy="502920"/>
          </a:xfrm>
          <a:prstGeom prst="rect">
            <a:avLst/>
          </a:prstGeom>
          <a:noFill/>
          <a:ln/>
        </p:spPr>
        <p:txBody>
          <a:bodyPr wrap="square" lIns="0" tIns="0" rIns="0" bIns="0" rtlCol="0" anchor="t"/>
          <a:lstStyle/>
          <a:p>
            <a:pPr indent="0" marL="0">
              <a:buNone/>
            </a:pPr>
            <a:r>
              <a:rPr lang="en-US" sz="1400" dirty="0">
                <a:solidFill>
                  <a:schemeClr val="tx2"/>
                </a:solidFill>
              </a:rPr>
              <a:t>backend copies, auto-scaling with traffic</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The tech stack in plain words</a:t>
            </a:r>
            <a:endParaRPr lang="en-US" sz="3200" dirty="0"/>
          </a:p>
        </p:txBody>
      </p:sp>
      <p:sp>
        <p:nvSpPr>
          <p:cNvPr id="3" name="Card 1"/>
          <p:cNvSpPr/>
          <p:nvPr/>
        </p:nvSpPr>
        <p:spPr>
          <a:xfrm>
            <a:off x="457200" y="1188720"/>
            <a:ext cx="3977640" cy="1600200"/>
          </a:xfrm>
          <a:prstGeom prst="roundRect">
            <a:avLst>
              <a:gd name="adj" fmla="val 4571"/>
            </a:avLst>
          </a:prstGeom>
          <a:solidFill>
            <a:schemeClr val="bg2"/>
          </a:solidFill>
          <a:ln/>
        </p:spPr>
      </p:sp>
      <p:sp>
        <p:nvSpPr>
          <p:cNvPr id="4" name="Badge 1"/>
          <p:cNvSpPr/>
          <p:nvPr/>
        </p:nvSpPr>
        <p:spPr>
          <a:xfrm>
            <a:off x="640080" y="1325880"/>
            <a:ext cx="365760" cy="365760"/>
          </a:xfrm>
          <a:prstGeom prst="ellipse">
            <a:avLst/>
          </a:prstGeom>
          <a:solidFill>
            <a:schemeClr val="accent1"/>
          </a:solidFill>
          <a:ln/>
        </p:spPr>
      </p:sp>
      <p:sp>
        <p:nvSpPr>
          <p:cNvPr id="5" name="Badge number 1"/>
          <p:cNvSpPr txBox="1"/>
          <p:nvPr/>
        </p:nvSpPr>
        <p:spPr>
          <a:xfrm>
            <a:off x="640080"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Card title 1"/>
          <p:cNvSpPr txBox="1"/>
          <p:nvPr/>
        </p:nvSpPr>
        <p:spPr>
          <a:xfrm>
            <a:off x="1143000" y="1325880"/>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Build the app</a:t>
            </a:r>
            <a:endParaRPr lang="en-US" sz="1600" dirty="0"/>
          </a:p>
        </p:txBody>
      </p:sp>
      <p:sp>
        <p:nvSpPr>
          <p:cNvPr id="7" name="Card items 1"/>
          <p:cNvSpPr txBox="1"/>
          <p:nvPr/>
        </p:nvSpPr>
        <p:spPr>
          <a:xfrm>
            <a:off x="640080" y="1783080"/>
            <a:ext cx="3611880" cy="914400"/>
          </a:xfrm>
          <a:prstGeom prst="rect">
            <a:avLst/>
          </a:prstGeom>
          <a:noFill/>
          <a:ln/>
        </p:spPr>
        <p:txBody>
          <a:bodyPr wrap="square" lIns="0" tIns="0" rIns="0" bIns="0" rtlCol="0" anchor="t"/>
          <a:lstStyle/>
          <a:p>
            <a:pPr indent="0" marL="0">
              <a:buNone/>
            </a:pPr>
            <a:r>
              <a:rPr lang="en-US" sz="1400" b="1" dirty="0">
                <a:solidFill>
                  <a:schemeClr val="tx1"/>
                </a:solidFill>
              </a:rPr>
              <a:t>React</a:t>
            </a:r>
            <a:pPr indent="0" marL="0">
              <a:buNone/>
            </a:pPr>
            <a:r>
              <a:rPr lang="en-US" sz="1400" dirty="0">
                <a:solidFill>
                  <a:schemeClr val="tx2"/>
                </a:solidFill>
              </a:rPr>
              <a:t> - what users see</a:t>
            </a:r>
            <a:endParaRPr lang="en-US" sz="1400" dirty="0"/>
          </a:p>
          <a:p>
            <a:pPr indent="0" marL="0">
              <a:buNone/>
            </a:pPr>
            <a:r>
              <a:rPr lang="en-US" sz="1400" b="1" dirty="0">
                <a:solidFill>
                  <a:schemeClr val="tx1"/>
                </a:solidFill>
              </a:rPr>
              <a:t>FastAPI</a:t>
            </a:r>
            <a:pPr indent="0" marL="0">
              <a:buNone/>
            </a:pPr>
            <a:r>
              <a:rPr lang="en-US" sz="1400" dirty="0">
                <a:solidFill>
                  <a:schemeClr val="tx2"/>
                </a:solidFill>
              </a:rPr>
              <a:t> - the brain behind it</a:t>
            </a:r>
            <a:endParaRPr lang="en-US" sz="1400" dirty="0"/>
          </a:p>
          <a:p>
            <a:pPr indent="0" marL="0">
              <a:buNone/>
            </a:pPr>
            <a:r>
              <a:rPr lang="en-US" sz="1400" b="1" dirty="0">
                <a:solidFill>
                  <a:schemeClr val="tx1"/>
                </a:solidFill>
              </a:rPr>
              <a:t>PostgreSQL</a:t>
            </a:r>
            <a:pPr indent="0" marL="0">
              <a:buNone/>
            </a:pPr>
            <a:r>
              <a:rPr lang="en-US" sz="1400" dirty="0">
                <a:solidFill>
                  <a:schemeClr val="tx2"/>
                </a:solidFill>
              </a:rPr>
              <a:t> - stores the tasks</a:t>
            </a:r>
            <a:endParaRPr lang="en-US" sz="1400" dirty="0"/>
          </a:p>
        </p:txBody>
      </p:sp>
      <p:sp>
        <p:nvSpPr>
          <p:cNvPr id="8" name="Card 2"/>
          <p:cNvSpPr/>
          <p:nvPr/>
        </p:nvSpPr>
        <p:spPr>
          <a:xfrm>
            <a:off x="4709160" y="1188720"/>
            <a:ext cx="3977640" cy="1600200"/>
          </a:xfrm>
          <a:prstGeom prst="roundRect">
            <a:avLst>
              <a:gd name="adj" fmla="val 4571"/>
            </a:avLst>
          </a:prstGeom>
          <a:solidFill>
            <a:schemeClr val="bg2"/>
          </a:solidFill>
          <a:ln/>
        </p:spPr>
      </p:sp>
      <p:sp>
        <p:nvSpPr>
          <p:cNvPr id="9" name="Badge 2"/>
          <p:cNvSpPr/>
          <p:nvPr/>
        </p:nvSpPr>
        <p:spPr>
          <a:xfrm>
            <a:off x="4892040" y="1325880"/>
            <a:ext cx="365760" cy="365760"/>
          </a:xfrm>
          <a:prstGeom prst="ellipse">
            <a:avLst/>
          </a:prstGeom>
          <a:solidFill>
            <a:schemeClr val="accent1"/>
          </a:solidFill>
          <a:ln/>
        </p:spPr>
      </p:sp>
      <p:sp>
        <p:nvSpPr>
          <p:cNvPr id="10" name="Badge number 2"/>
          <p:cNvSpPr txBox="1"/>
          <p:nvPr/>
        </p:nvSpPr>
        <p:spPr>
          <a:xfrm>
            <a:off x="4892040" y="13258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Card title 2"/>
          <p:cNvSpPr txBox="1"/>
          <p:nvPr/>
        </p:nvSpPr>
        <p:spPr>
          <a:xfrm>
            <a:off x="5394960" y="1325880"/>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Test and package</a:t>
            </a:r>
            <a:endParaRPr lang="en-US" sz="1600" dirty="0"/>
          </a:p>
        </p:txBody>
      </p:sp>
      <p:sp>
        <p:nvSpPr>
          <p:cNvPr id="12" name="Card items 2"/>
          <p:cNvSpPr txBox="1"/>
          <p:nvPr/>
        </p:nvSpPr>
        <p:spPr>
          <a:xfrm>
            <a:off x="4892040" y="1783080"/>
            <a:ext cx="3611880" cy="914400"/>
          </a:xfrm>
          <a:prstGeom prst="rect">
            <a:avLst/>
          </a:prstGeom>
          <a:noFill/>
          <a:ln/>
        </p:spPr>
        <p:txBody>
          <a:bodyPr wrap="square" lIns="0" tIns="0" rIns="0" bIns="0" rtlCol="0" anchor="t"/>
          <a:lstStyle/>
          <a:p>
            <a:pPr indent="0" marL="0">
              <a:buNone/>
            </a:pPr>
            <a:r>
              <a:rPr lang="en-US" sz="1400" b="1" dirty="0">
                <a:solidFill>
                  <a:schemeClr val="tx1"/>
                </a:solidFill>
              </a:rPr>
              <a:t>Docker</a:t>
            </a:r>
            <a:pPr indent="0" marL="0">
              <a:buNone/>
            </a:pPr>
            <a:r>
              <a:rPr lang="en-US" sz="1400" dirty="0">
                <a:solidFill>
                  <a:schemeClr val="tx2"/>
                </a:solidFill>
              </a:rPr>
              <a:t> - packs the app in a box</a:t>
            </a:r>
            <a:endParaRPr lang="en-US" sz="1400" dirty="0"/>
          </a:p>
          <a:p>
            <a:pPr indent="0" marL="0">
              <a:buNone/>
            </a:pPr>
            <a:r>
              <a:rPr lang="en-US" sz="1400" b="1" dirty="0">
                <a:solidFill>
                  <a:schemeClr val="tx1"/>
                </a:solidFill>
              </a:rPr>
              <a:t>pytest</a:t>
            </a:r>
            <a:pPr indent="0" marL="0">
              <a:buNone/>
            </a:pPr>
            <a:r>
              <a:rPr lang="en-US" sz="1400" dirty="0">
                <a:solidFill>
                  <a:schemeClr val="tx2"/>
                </a:solidFill>
              </a:rPr>
              <a:t> - 13 automatic tests</a:t>
            </a:r>
            <a:endParaRPr lang="en-US" sz="1400" dirty="0"/>
          </a:p>
          <a:p>
            <a:pPr indent="0" marL="0">
              <a:buNone/>
            </a:pPr>
            <a:r>
              <a:rPr lang="en-US" sz="1400" b="1" dirty="0">
                <a:solidFill>
                  <a:schemeClr val="tx1"/>
                </a:solidFill>
              </a:rPr>
              <a:t>Trivy</a:t>
            </a:r>
            <a:pPr indent="0" marL="0">
              <a:buNone/>
            </a:pPr>
            <a:r>
              <a:rPr lang="en-US" sz="1400" dirty="0">
                <a:solidFill>
                  <a:schemeClr val="tx2"/>
                </a:solidFill>
              </a:rPr>
              <a:t> - scans for security holes</a:t>
            </a:r>
            <a:endParaRPr lang="en-US" sz="1400" dirty="0"/>
          </a:p>
          <a:p>
            <a:pPr indent="0" marL="0">
              <a:buNone/>
            </a:pPr>
            <a:r>
              <a:rPr lang="en-US" sz="1400" b="1" dirty="0">
                <a:solidFill>
                  <a:schemeClr val="tx1"/>
                </a:solidFill>
              </a:rPr>
              <a:t>GitHub Actions</a:t>
            </a:r>
            <a:pPr indent="0" marL="0">
              <a:buNone/>
            </a:pPr>
            <a:r>
              <a:rPr lang="en-US" sz="1400" dirty="0">
                <a:solidFill>
                  <a:schemeClr val="tx2"/>
                </a:solidFill>
              </a:rPr>
              <a:t> - the robot pipeline</a:t>
            </a:r>
            <a:endParaRPr lang="en-US" sz="1400" dirty="0"/>
          </a:p>
        </p:txBody>
      </p:sp>
      <p:sp>
        <p:nvSpPr>
          <p:cNvPr id="13" name="Card 3"/>
          <p:cNvSpPr/>
          <p:nvPr/>
        </p:nvSpPr>
        <p:spPr>
          <a:xfrm>
            <a:off x="457200" y="3063240"/>
            <a:ext cx="3977640" cy="1600200"/>
          </a:xfrm>
          <a:prstGeom prst="roundRect">
            <a:avLst>
              <a:gd name="adj" fmla="val 4571"/>
            </a:avLst>
          </a:prstGeom>
          <a:solidFill>
            <a:schemeClr val="bg2"/>
          </a:solidFill>
          <a:ln/>
        </p:spPr>
      </p:sp>
      <p:sp>
        <p:nvSpPr>
          <p:cNvPr id="14" name="Badge 3"/>
          <p:cNvSpPr/>
          <p:nvPr/>
        </p:nvSpPr>
        <p:spPr>
          <a:xfrm>
            <a:off x="640080" y="3200400"/>
            <a:ext cx="365760" cy="365760"/>
          </a:xfrm>
          <a:prstGeom prst="ellipse">
            <a:avLst/>
          </a:prstGeom>
          <a:solidFill>
            <a:schemeClr val="accent1"/>
          </a:solidFill>
          <a:ln/>
        </p:spPr>
      </p:sp>
      <p:sp>
        <p:nvSpPr>
          <p:cNvPr id="15" name="Badge number 3"/>
          <p:cNvSpPr txBox="1"/>
          <p:nvPr/>
        </p:nvSpPr>
        <p:spPr>
          <a:xfrm>
            <a:off x="64008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Card title 3"/>
          <p:cNvSpPr txBox="1"/>
          <p:nvPr/>
        </p:nvSpPr>
        <p:spPr>
          <a:xfrm>
            <a:off x="1143000" y="3200400"/>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Run in the cloud</a:t>
            </a:r>
            <a:endParaRPr lang="en-US" sz="1600" dirty="0"/>
          </a:p>
        </p:txBody>
      </p:sp>
      <p:sp>
        <p:nvSpPr>
          <p:cNvPr id="17" name="Card items 3"/>
          <p:cNvSpPr txBox="1"/>
          <p:nvPr/>
        </p:nvSpPr>
        <p:spPr>
          <a:xfrm>
            <a:off x="640080" y="3657600"/>
            <a:ext cx="3611880" cy="914400"/>
          </a:xfrm>
          <a:prstGeom prst="rect">
            <a:avLst/>
          </a:prstGeom>
          <a:noFill/>
          <a:ln/>
        </p:spPr>
        <p:txBody>
          <a:bodyPr wrap="square" lIns="0" tIns="0" rIns="0" bIns="0" rtlCol="0" anchor="t"/>
          <a:lstStyle/>
          <a:p>
            <a:pPr indent="0" marL="0">
              <a:buNone/>
            </a:pPr>
            <a:r>
              <a:rPr lang="en-US" sz="1400" b="1" dirty="0">
                <a:solidFill>
                  <a:schemeClr val="tx1"/>
                </a:solidFill>
              </a:rPr>
              <a:t>Terraform</a:t>
            </a:r>
            <a:pPr indent="0" marL="0">
              <a:buNone/>
            </a:pPr>
            <a:r>
              <a:rPr lang="en-US" sz="1400" dirty="0">
                <a:solidFill>
                  <a:schemeClr val="tx2"/>
                </a:solidFill>
              </a:rPr>
              <a:t> - builds AWS using code</a:t>
            </a:r>
            <a:endParaRPr lang="en-US" sz="1400" dirty="0"/>
          </a:p>
          <a:p>
            <a:pPr indent="0" marL="0">
              <a:buNone/>
            </a:pPr>
            <a:r>
              <a:rPr lang="en-US" sz="1400" b="1" dirty="0">
                <a:solidFill>
                  <a:schemeClr val="tx1"/>
                </a:solidFill>
              </a:rPr>
              <a:t>Kubernetes</a:t>
            </a:r>
            <a:pPr indent="0" marL="0">
              <a:buNone/>
            </a:pPr>
            <a:r>
              <a:rPr lang="en-US" sz="1400" dirty="0">
                <a:solidFill>
                  <a:schemeClr val="tx2"/>
                </a:solidFill>
              </a:rPr>
              <a:t> - runs and heals the boxes</a:t>
            </a:r>
            <a:endParaRPr lang="en-US" sz="1400" dirty="0"/>
          </a:p>
          <a:p>
            <a:pPr indent="0" marL="0">
              <a:buNone/>
            </a:pPr>
            <a:r>
              <a:rPr lang="en-US" sz="1400" b="1" dirty="0">
                <a:solidFill>
                  <a:schemeClr val="tx1"/>
                </a:solidFill>
              </a:rPr>
              <a:t>Helm</a:t>
            </a:r>
            <a:pPr indent="0" marL="0">
              <a:buNone/>
            </a:pPr>
            <a:r>
              <a:rPr lang="en-US" sz="1400" dirty="0">
                <a:solidFill>
                  <a:schemeClr val="tx2"/>
                </a:solidFill>
              </a:rPr>
              <a:t> - one-command installer</a:t>
            </a:r>
            <a:endParaRPr lang="en-US" sz="1400" dirty="0"/>
          </a:p>
          <a:p>
            <a:pPr indent="0" marL="0">
              <a:buNone/>
            </a:pPr>
            <a:r>
              <a:rPr lang="en-US" sz="1400" b="1" dirty="0">
                <a:solidFill>
                  <a:schemeClr val="tx1"/>
                </a:solidFill>
              </a:rPr>
              <a:t>Ingress, HPA</a:t>
            </a:r>
            <a:pPr indent="0" marL="0">
              <a:buNone/>
            </a:pPr>
            <a:r>
              <a:rPr lang="en-US" sz="1400" dirty="0">
                <a:solidFill>
                  <a:schemeClr val="tx2"/>
                </a:solidFill>
              </a:rPr>
              <a:t> - routing and scaling</a:t>
            </a:r>
            <a:endParaRPr lang="en-US" sz="1400" dirty="0"/>
          </a:p>
        </p:txBody>
      </p:sp>
      <p:sp>
        <p:nvSpPr>
          <p:cNvPr id="18" name="Card 4"/>
          <p:cNvSpPr/>
          <p:nvPr/>
        </p:nvSpPr>
        <p:spPr>
          <a:xfrm>
            <a:off x="4709160" y="3063240"/>
            <a:ext cx="3977640" cy="1600200"/>
          </a:xfrm>
          <a:prstGeom prst="roundRect">
            <a:avLst>
              <a:gd name="adj" fmla="val 4571"/>
            </a:avLst>
          </a:prstGeom>
          <a:solidFill>
            <a:schemeClr val="bg2"/>
          </a:solidFill>
          <a:ln/>
        </p:spPr>
      </p:sp>
      <p:sp>
        <p:nvSpPr>
          <p:cNvPr id="19" name="Badge 4"/>
          <p:cNvSpPr/>
          <p:nvPr/>
        </p:nvSpPr>
        <p:spPr>
          <a:xfrm>
            <a:off x="4892040" y="3200400"/>
            <a:ext cx="365760" cy="365760"/>
          </a:xfrm>
          <a:prstGeom prst="ellipse">
            <a:avLst/>
          </a:prstGeom>
          <a:solidFill>
            <a:schemeClr val="accent1"/>
          </a:solidFill>
          <a:ln/>
        </p:spPr>
      </p:sp>
      <p:sp>
        <p:nvSpPr>
          <p:cNvPr id="20" name="Badge number 4"/>
          <p:cNvSpPr txBox="1"/>
          <p:nvPr/>
        </p:nvSpPr>
        <p:spPr>
          <a:xfrm>
            <a:off x="4892040" y="32004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Card title 4"/>
          <p:cNvSpPr txBox="1"/>
          <p:nvPr/>
        </p:nvSpPr>
        <p:spPr>
          <a:xfrm>
            <a:off x="5394960" y="3200400"/>
            <a:ext cx="3108960" cy="365760"/>
          </a:xfrm>
          <a:prstGeom prst="rect">
            <a:avLst/>
          </a:prstGeom>
          <a:noFill/>
          <a:ln/>
        </p:spPr>
        <p:txBody>
          <a:bodyPr wrap="square" lIns="0" tIns="0" rIns="0" bIns="0" rtlCol="0" anchor="ctr"/>
          <a:lstStyle/>
          <a:p>
            <a:pPr indent="0" marL="0">
              <a:buNone/>
            </a:pPr>
            <a:r>
              <a:rPr lang="en-US" sz="1600" b="1" dirty="0">
                <a:solidFill>
                  <a:schemeClr val="tx1"/>
                </a:solidFill>
              </a:rPr>
              <a:t>Watch it</a:t>
            </a:r>
            <a:endParaRPr lang="en-US" sz="1600" dirty="0"/>
          </a:p>
        </p:txBody>
      </p:sp>
      <p:sp>
        <p:nvSpPr>
          <p:cNvPr id="22" name="Card items 4"/>
          <p:cNvSpPr txBox="1"/>
          <p:nvPr/>
        </p:nvSpPr>
        <p:spPr>
          <a:xfrm>
            <a:off x="4892040" y="3657600"/>
            <a:ext cx="3611880" cy="914400"/>
          </a:xfrm>
          <a:prstGeom prst="rect">
            <a:avLst/>
          </a:prstGeom>
          <a:noFill/>
          <a:ln/>
        </p:spPr>
        <p:txBody>
          <a:bodyPr wrap="square" lIns="0" tIns="0" rIns="0" bIns="0" rtlCol="0" anchor="t"/>
          <a:lstStyle/>
          <a:p>
            <a:pPr indent="0" marL="0">
              <a:buNone/>
            </a:pPr>
            <a:r>
              <a:rPr lang="en-US" sz="1400" b="1" dirty="0">
                <a:solidFill>
                  <a:schemeClr val="tx1"/>
                </a:solidFill>
              </a:rPr>
              <a:t>Prometheus</a:t>
            </a:r>
            <a:pPr indent="0" marL="0">
              <a:buNone/>
            </a:pPr>
            <a:r>
              <a:rPr lang="en-US" sz="1400" dirty="0">
                <a:solidFill>
                  <a:schemeClr val="tx2"/>
                </a:solidFill>
              </a:rPr>
              <a:t> - collects the numbers</a:t>
            </a:r>
            <a:endParaRPr lang="en-US" sz="1400" dirty="0"/>
          </a:p>
          <a:p>
            <a:pPr indent="0" marL="0">
              <a:buNone/>
            </a:pPr>
            <a:r>
              <a:rPr lang="en-US" sz="1400" b="1" dirty="0">
                <a:solidFill>
                  <a:schemeClr val="tx1"/>
                </a:solidFill>
              </a:rPr>
              <a:t>Grafana</a:t>
            </a:r>
            <a:pPr indent="0" marL="0">
              <a:buNone/>
            </a:pPr>
            <a:r>
              <a:rPr lang="en-US" sz="1400" dirty="0">
                <a:solidFill>
                  <a:schemeClr val="tx2"/>
                </a:solidFill>
              </a:rPr>
              <a:t> - shows live dashboards</a:t>
            </a:r>
            <a:endParaRPr lang="en-US" sz="1400" dirty="0"/>
          </a:p>
          <a:p>
            <a:pPr indent="0" marL="0">
              <a:buNone/>
            </a:pPr>
            <a:r>
              <a:rPr lang="en-US" sz="1400" b="1" dirty="0">
                <a:solidFill>
                  <a:schemeClr val="tx1"/>
                </a:solidFill>
              </a:rPr>
              <a:t>Health checks</a:t>
            </a:r>
            <a:pPr indent="0" marL="0">
              <a:buNone/>
            </a:pPr>
            <a:r>
              <a:rPr lang="en-US" sz="1400" dirty="0">
                <a:solidFill>
                  <a:schemeClr val="tx2"/>
                </a:solidFill>
              </a:rPr>
              <a:t> - is it alive and ready?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Alternatives, and why I chose these</a:t>
            </a:r>
            <a:endParaRPr lang="en-US" sz="3200" dirty="0"/>
          </a:p>
        </p:txBody>
      </p:sp>
      <p:graphicFrame>
        <p:nvGraphicFramePr>
          <p:cNvPr id="5" name="Alternatives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2194560"/>
                <a:gridCol w="4206240"/>
              </a:tblGrid>
              <a:tr h="365760">
                <a:tc>
                  <a:txBody>
                    <a:bodyPr/>
                    <a:lstStyle/>
                    <a:p>
                      <a:pPr indent="0" marL="0">
                        <a:buNone/>
                      </a:pPr>
                      <a:r>
                        <a:rPr lang="en-US" sz="1400" b="1" dirty="0">
                          <a:solidFill>
                            <a:schemeClr val="bg1"/>
                          </a:solidFill>
                        </a:rPr>
                        <a:t>Job</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Alternatives</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 chose and why</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r>
              <a:tr h="420624">
                <a:tc>
                  <a:txBody>
                    <a:bodyPr/>
                    <a:lstStyle/>
                    <a:p>
                      <a:pPr indent="0" marL="0">
                        <a:buNone/>
                      </a:pPr>
                      <a:r>
                        <a:rPr lang="en-US" sz="1400" b="1" dirty="0">
                          <a:solidFill>
                            <a:schemeClr val="tx2"/>
                          </a:solidFill>
                        </a:rPr>
                        <a:t>Backend</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Flask, Django</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FastAPI: fast, with free API docs at /docs</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20624">
                <a:tc>
                  <a:txBody>
                    <a:bodyPr/>
                    <a:lstStyle/>
                    <a:p>
                      <a:pPr indent="0" marL="0">
                        <a:buNone/>
                      </a:pPr>
                      <a:r>
                        <a:rPr lang="en-US" sz="1400" b="1" dirty="0">
                          <a:solidFill>
                            <a:schemeClr val="tx2"/>
                          </a:solidFill>
                        </a:rPr>
                        <a:t>Database</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MySQL, MongoDB</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PostgreSQL: reliable, tasks fit neatly in tables</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2"/>
                          </a:solidFill>
                        </a:rPr>
                        <a:t>Packaging</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Virtual machines</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Docker: light, runs the same everywhere</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20624">
                <a:tc>
                  <a:txBody>
                    <a:bodyPr/>
                    <a:lstStyle/>
                    <a:p>
                      <a:pPr indent="0" marL="0">
                        <a:buNone/>
                      </a:pPr>
                      <a:r>
                        <a:rPr lang="en-US" sz="1400" b="1" dirty="0">
                          <a:solidFill>
                            <a:schemeClr val="tx2"/>
                          </a:solidFill>
                        </a:rPr>
                        <a:t>Pipeline</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Jenkins, GitLab CI</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GitHub Actions: lives right next to my code</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2"/>
                          </a:solidFill>
                        </a:rPr>
                        <a:t>Cloud setup</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Clicking in AWS console</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Terraform: repeatable, reviewable code</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r h="420624">
                <a:tc>
                  <a:txBody>
                    <a:bodyPr/>
                    <a:lstStyle/>
                    <a:p>
                      <a:pPr indent="0" marL="0">
                        <a:buNone/>
                      </a:pPr>
                      <a:r>
                        <a:rPr lang="en-US" sz="1400" b="1" dirty="0">
                          <a:solidFill>
                            <a:schemeClr val="tx2"/>
                          </a:solidFill>
                        </a:rPr>
                        <a:t>Running containers</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400" dirty="0">
                          <a:solidFill>
                            <a:schemeClr val="tx2"/>
                          </a:solidFill>
                        </a:rPr>
                        <a:t>Plain Docker, ECS</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Kubernetes: self-heals and auto-scales</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20624">
                <a:tc>
                  <a:txBody>
                    <a:bodyPr/>
                    <a:lstStyle/>
                    <a:p>
                      <a:pPr indent="0" marL="0">
                        <a:buNone/>
                      </a:pPr>
                      <a:r>
                        <a:rPr lang="en-US" sz="1400" b="1" dirty="0">
                          <a:solidFill>
                            <a:schemeClr val="tx2"/>
                          </a:solidFill>
                        </a:rPr>
                        <a:t>Monitoring</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AWS CloudWatch</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Prometheus + Grafana: open standard, free</a:t>
                      </a:r>
                      <a:endParaRPr lang="en-US" sz="1400" dirty="0"/>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Where the code lives: GitHub</a:t>
            </a:r>
            <a:endParaRPr lang="en-US" sz="3200" dirty="0"/>
          </a:p>
        </p:txBody>
      </p:sp>
      <p:pic>
        <p:nvPicPr>
          <p:cNvPr id="3" name="GitHub repo screenshot" descr="GitHub page of the devops-final repository showing folders and 43 commits">    </p:cNvPr>
          <p:cNvPicPr>
            <a:picLocks noChangeAspect="1"/>
          </p:cNvPicPr>
          <p:nvPr/>
        </p:nvPicPr>
        <p:blipFill>
          <a:blip r:embed="rId1"/>
          <a:stretch>
            <a:fillRect/>
          </a:stretch>
        </p:blipFill>
        <p:spPr>
          <a:xfrm>
            <a:off x="457200" y="1188720"/>
            <a:ext cx="5394960" cy="2721254"/>
          </a:xfrm>
          <a:prstGeom prst="rect">
            <a:avLst/>
          </a:prstGeom>
        </p:spPr>
      </p:pic>
      <p:sp>
        <p:nvSpPr>
          <p:cNvPr id="4" name="GitHub repo screenshot frame"/>
          <p:cNvSpPr/>
          <p:nvPr/>
        </p:nvSpPr>
        <p:spPr>
          <a:xfrm>
            <a:off x="457200" y="1188720"/>
            <a:ext cx="5394960" cy="2721254"/>
          </a:xfrm>
          <a:prstGeom prst="rect">
            <a:avLst/>
          </a:prstGeom>
          <a:solidFill>
            <a:srgbClr val="FFFFFF">
              <a:alpha val="0"/>
            </a:srgbClr>
          </a:solidFill>
          <a:ln w="12700">
            <a:solidFill>
              <a:srgbClr val="CBD5E1"/>
            </a:solidFill>
            <a:prstDash val="solid"/>
          </a:ln>
        </p:spPr>
      </p:sp>
      <p:sp>
        <p:nvSpPr>
          <p:cNvPr id="5" name="GitHub caption"/>
          <p:cNvSpPr txBox="1"/>
          <p:nvPr/>
        </p:nvSpPr>
        <p:spPr>
          <a:xfrm>
            <a:off x="457200" y="4092854"/>
            <a:ext cx="5394960" cy="594360"/>
          </a:xfrm>
          <a:prstGeom prst="rect">
            <a:avLst/>
          </a:prstGeom>
          <a:noFill/>
          <a:ln/>
        </p:spPr>
        <p:txBody>
          <a:bodyPr wrap="square" lIns="0" tIns="0" rIns="0" bIns="0" rtlCol="0" anchor="t"/>
          <a:lstStyle/>
          <a:p>
            <a:pPr indent="0" marL="0">
              <a:buNone/>
            </a:pPr>
            <a:r>
              <a:rPr lang="en-US" sz="1400" i="1" dirty="0">
                <a:solidFill>
                  <a:schemeClr val="tx2"/>
                </a:solidFill>
              </a:rPr>
              <a:t>Git saves every change as a checkpoint (a commit). GitHub keeps the shared copy online.</a:t>
            </a:r>
            <a:endParaRPr lang="en-US" sz="1400" dirty="0"/>
          </a:p>
        </p:txBody>
      </p:sp>
      <p:sp>
        <p:nvSpPr>
          <p:cNvPr id="6" name="Repo stat 1 number"/>
          <p:cNvSpPr txBox="1"/>
          <p:nvPr/>
        </p:nvSpPr>
        <p:spPr>
          <a:xfrm>
            <a:off x="6217920" y="1188720"/>
            <a:ext cx="2468880" cy="548640"/>
          </a:xfrm>
          <a:prstGeom prst="rect">
            <a:avLst/>
          </a:prstGeom>
          <a:noFill/>
          <a:ln/>
        </p:spPr>
        <p:txBody>
          <a:bodyPr wrap="square" lIns="0" tIns="0" rIns="0" bIns="0" rtlCol="0" anchor="ctr"/>
          <a:lstStyle/>
          <a:p>
            <a:pPr indent="0" marL="0">
              <a:buNone/>
            </a:pPr>
            <a:r>
              <a:rPr lang="en-US" sz="3200" b="1" dirty="0">
                <a:solidFill>
                  <a:schemeClr val="accent1"/>
                </a:solidFill>
              </a:rPr>
              <a:t>43</a:t>
            </a:r>
            <a:endParaRPr lang="en-US" sz="3200" dirty="0"/>
          </a:p>
        </p:txBody>
      </p:sp>
      <p:sp>
        <p:nvSpPr>
          <p:cNvPr id="7" name="Repo stat 1 label"/>
          <p:cNvSpPr txBox="1"/>
          <p:nvPr/>
        </p:nvSpPr>
        <p:spPr>
          <a:xfrm>
            <a:off x="6217920" y="1737360"/>
            <a:ext cx="2468880" cy="548640"/>
          </a:xfrm>
          <a:prstGeom prst="rect">
            <a:avLst/>
          </a:prstGeom>
          <a:noFill/>
          <a:ln/>
        </p:spPr>
        <p:txBody>
          <a:bodyPr wrap="square" lIns="0" tIns="0" rIns="0" bIns="0" rtlCol="0" anchor="t"/>
          <a:lstStyle/>
          <a:p>
            <a:pPr indent="0" marL="0">
              <a:buNone/>
            </a:pPr>
            <a:r>
              <a:rPr lang="en-US" sz="1400" dirty="0">
                <a:solidFill>
                  <a:schemeClr val="tx2"/>
                </a:solidFill>
              </a:rPr>
              <a:t>commits, each with a clear message such as feat or fix</a:t>
            </a:r>
            <a:endParaRPr lang="en-US" sz="1400" dirty="0"/>
          </a:p>
        </p:txBody>
      </p:sp>
      <p:sp>
        <p:nvSpPr>
          <p:cNvPr id="8" name="Repo stat 2 number"/>
          <p:cNvSpPr txBox="1"/>
          <p:nvPr/>
        </p:nvSpPr>
        <p:spPr>
          <a:xfrm>
            <a:off x="6217920" y="2377440"/>
            <a:ext cx="2468880" cy="548640"/>
          </a:xfrm>
          <a:prstGeom prst="rect">
            <a:avLst/>
          </a:prstGeom>
          <a:noFill/>
          <a:ln/>
        </p:spPr>
        <p:txBody>
          <a:bodyPr wrap="square" lIns="0" tIns="0" rIns="0" bIns="0" rtlCol="0" anchor="ctr"/>
          <a:lstStyle/>
          <a:p>
            <a:pPr indent="0" marL="0">
              <a:buNone/>
            </a:pPr>
            <a:r>
              <a:rPr lang="en-US" sz="3200" b="1" dirty="0">
                <a:solidFill>
                  <a:schemeClr val="accent1"/>
                </a:solidFill>
              </a:rPr>
              <a:t>2</a:t>
            </a:r>
            <a:endParaRPr lang="en-US" sz="3200" dirty="0"/>
          </a:p>
        </p:txBody>
      </p:sp>
      <p:sp>
        <p:nvSpPr>
          <p:cNvPr id="9" name="Repo stat 2 label"/>
          <p:cNvSpPr txBox="1"/>
          <p:nvPr/>
        </p:nvSpPr>
        <p:spPr>
          <a:xfrm>
            <a:off x="6217920" y="2926080"/>
            <a:ext cx="2468880" cy="548640"/>
          </a:xfrm>
          <a:prstGeom prst="rect">
            <a:avLst/>
          </a:prstGeom>
          <a:noFill/>
          <a:ln/>
        </p:spPr>
        <p:txBody>
          <a:bodyPr wrap="square" lIns="0" tIns="0" rIns="0" bIns="0" rtlCol="0" anchor="t"/>
          <a:lstStyle/>
          <a:p>
            <a:pPr indent="0" marL="0">
              <a:buNone/>
            </a:pPr>
            <a:r>
              <a:rPr lang="en-US" sz="1400" dirty="0">
                <a:solidFill>
                  <a:schemeClr val="tx2"/>
                </a:solidFill>
              </a:rPr>
              <a:t>images published to GHCR: backend and frontend</a:t>
            </a:r>
            <a:endParaRPr lang="en-US" sz="1400" dirty="0"/>
          </a:p>
        </p:txBody>
      </p:sp>
      <p:sp>
        <p:nvSpPr>
          <p:cNvPr id="10" name="Repo stat 3 number"/>
          <p:cNvSpPr txBox="1"/>
          <p:nvPr/>
        </p:nvSpPr>
        <p:spPr>
          <a:xfrm>
            <a:off x="6217920" y="3566160"/>
            <a:ext cx="2468880" cy="548640"/>
          </a:xfrm>
          <a:prstGeom prst="rect">
            <a:avLst/>
          </a:prstGeom>
          <a:noFill/>
          <a:ln/>
        </p:spPr>
        <p:txBody>
          <a:bodyPr wrap="square" lIns="0" tIns="0" rIns="0" bIns="0" rtlCol="0" anchor="ctr"/>
          <a:lstStyle/>
          <a:p>
            <a:pPr indent="0" marL="0">
              <a:buNone/>
            </a:pPr>
            <a:r>
              <a:rPr lang="en-US" sz="3200" b="1" dirty="0">
                <a:solidFill>
                  <a:schemeClr val="accent1"/>
                </a:solidFill>
              </a:rPr>
              <a:t>Public</a:t>
            </a:r>
            <a:endParaRPr lang="en-US" sz="3200" dirty="0"/>
          </a:p>
        </p:txBody>
      </p:sp>
      <p:sp>
        <p:nvSpPr>
          <p:cNvPr id="11" name="Repo stat 3 label"/>
          <p:cNvSpPr txBox="1"/>
          <p:nvPr/>
        </p:nvSpPr>
        <p:spPr>
          <a:xfrm>
            <a:off x="6217920" y="4114800"/>
            <a:ext cx="2468880" cy="548640"/>
          </a:xfrm>
          <a:prstGeom prst="rect">
            <a:avLst/>
          </a:prstGeom>
          <a:noFill/>
          <a:ln/>
        </p:spPr>
        <p:txBody>
          <a:bodyPr wrap="square" lIns="0" tIns="0" rIns="0" bIns="0" rtlCol="0" anchor="t"/>
          <a:lstStyle/>
          <a:p>
            <a:pPr indent="0" marL="0">
              <a:buNone/>
            </a:pPr>
            <a:r>
              <a:rPr lang="en-US" sz="1400" dirty="0">
                <a:solidFill>
                  <a:schemeClr val="tx2"/>
                </a:solidFill>
              </a:rPr>
              <a:t>anyone can open the repository and read the code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Docker and Kubernetes, simply</a:t>
            </a:r>
            <a:endParaRPr lang="en-US" sz="3200" dirty="0"/>
          </a:p>
        </p:txBody>
      </p:sp>
      <p:sp>
        <p:nvSpPr>
          <p:cNvPr id="3" name="Docker heading"/>
          <p:cNvSpPr txBox="1"/>
          <p:nvPr/>
        </p:nvSpPr>
        <p:spPr>
          <a:xfrm>
            <a:off x="457200" y="1097280"/>
            <a:ext cx="3977640" cy="365760"/>
          </a:xfrm>
          <a:prstGeom prst="rect">
            <a:avLst/>
          </a:prstGeom>
          <a:noFill/>
          <a:ln/>
        </p:spPr>
        <p:txBody>
          <a:bodyPr wrap="square" lIns="0" tIns="0" rIns="0" bIns="0" rtlCol="0" anchor="ctr"/>
          <a:lstStyle/>
          <a:p>
            <a:pPr indent="0" marL="0">
              <a:buNone/>
            </a:pPr>
            <a:r>
              <a:rPr lang="en-US" sz="2000" b="1" dirty="0">
                <a:solidFill>
                  <a:schemeClr val="accent1"/>
                </a:solidFill>
              </a:rPr>
              <a:t>Docker = a shipping container</a:t>
            </a:r>
            <a:endParaRPr lang="en-US" sz="2000" dirty="0"/>
          </a:p>
        </p:txBody>
      </p:sp>
      <p:sp>
        <p:nvSpPr>
          <p:cNvPr id="4" name="Docker text"/>
          <p:cNvSpPr txBox="1"/>
          <p:nvPr/>
        </p:nvSpPr>
        <p:spPr>
          <a:xfrm>
            <a:off x="457200" y="1508760"/>
            <a:ext cx="3977640" cy="868680"/>
          </a:xfrm>
          <a:prstGeom prst="rect">
            <a:avLst/>
          </a:prstGeom>
          <a:noFill/>
          <a:ln/>
        </p:spPr>
        <p:txBody>
          <a:bodyPr wrap="square" lIns="0" tIns="0" rIns="0" bIns="0" rtlCol="0" anchor="t"/>
          <a:lstStyle/>
          <a:p>
            <a:pPr indent="0" marL="0">
              <a:buNone/>
            </a:pPr>
            <a:r>
              <a:rPr lang="en-US" sz="1400" dirty="0">
                <a:solidFill>
                  <a:schemeClr val="tx1"/>
                </a:solidFill>
              </a:rPr>
              <a:t>The app and everything it needs are packed into one box (an image), so it runs the same everywhere.</a:t>
            </a:r>
            <a:endParaRPr lang="en-US" sz="1400" dirty="0"/>
          </a:p>
          <a:p>
            <a:pPr indent="0" marL="0">
              <a:buNone/>
            </a:pPr>
            <a:r>
              <a:rPr lang="en-US" sz="1400" b="1" dirty="0">
                <a:solidFill>
                  <a:schemeClr val="tx1"/>
                </a:solidFill>
              </a:rPr>
              <a:t>Here: docker compose starts all 3 services.</a:t>
            </a:r>
            <a:endParaRPr lang="en-US" sz="1400" dirty="0"/>
          </a:p>
        </p:txBody>
      </p:sp>
      <p:pic>
        <p:nvPicPr>
          <p:cNvPr id="5" name="Docker screenshot" descr="Terminal showing docker compose up and the TaskBoard dashboard on localhost:3000">    </p:cNvPr>
          <p:cNvPicPr>
            <a:picLocks noChangeAspect="1"/>
          </p:cNvPicPr>
          <p:nvPr/>
        </p:nvPicPr>
        <p:blipFill>
          <a:blip r:embed="rId1"/>
          <a:stretch>
            <a:fillRect/>
          </a:stretch>
        </p:blipFill>
        <p:spPr>
          <a:xfrm>
            <a:off x="457200" y="2514600"/>
            <a:ext cx="3977640" cy="2113178"/>
          </a:xfrm>
          <a:prstGeom prst="rect">
            <a:avLst/>
          </a:prstGeom>
        </p:spPr>
      </p:pic>
      <p:sp>
        <p:nvSpPr>
          <p:cNvPr id="6" name="Docker screenshot frame"/>
          <p:cNvSpPr/>
          <p:nvPr/>
        </p:nvSpPr>
        <p:spPr>
          <a:xfrm>
            <a:off x="457200" y="2514600"/>
            <a:ext cx="3977640" cy="2113178"/>
          </a:xfrm>
          <a:prstGeom prst="rect">
            <a:avLst/>
          </a:prstGeom>
          <a:solidFill>
            <a:srgbClr val="FFFFFF">
              <a:alpha val="0"/>
            </a:srgbClr>
          </a:solidFill>
          <a:ln w="12700">
            <a:solidFill>
              <a:srgbClr val="CBD5E1"/>
            </a:solidFill>
            <a:prstDash val="solid"/>
          </a:ln>
        </p:spPr>
      </p:sp>
      <p:sp>
        <p:nvSpPr>
          <p:cNvPr id="7" name="Kubernetes heading"/>
          <p:cNvSpPr txBox="1"/>
          <p:nvPr/>
        </p:nvSpPr>
        <p:spPr>
          <a:xfrm>
            <a:off x="4709160" y="1097280"/>
            <a:ext cx="3977640" cy="365760"/>
          </a:xfrm>
          <a:prstGeom prst="rect">
            <a:avLst/>
          </a:prstGeom>
          <a:noFill/>
          <a:ln/>
        </p:spPr>
        <p:txBody>
          <a:bodyPr wrap="square" lIns="0" tIns="0" rIns="0" bIns="0" rtlCol="0" anchor="ctr"/>
          <a:lstStyle/>
          <a:p>
            <a:pPr indent="0" marL="0">
              <a:buNone/>
            </a:pPr>
            <a:r>
              <a:rPr lang="en-US" sz="2000" b="1" dirty="0">
                <a:solidFill>
                  <a:schemeClr val="accent1"/>
                </a:solidFill>
              </a:rPr>
              <a:t>Kubernetes = the container manager</a:t>
            </a:r>
            <a:endParaRPr lang="en-US" sz="2000" dirty="0"/>
          </a:p>
        </p:txBody>
      </p:sp>
      <p:sp>
        <p:nvSpPr>
          <p:cNvPr id="8" name="Kubernetes text"/>
          <p:cNvSpPr txBox="1"/>
          <p:nvPr/>
        </p:nvSpPr>
        <p:spPr>
          <a:xfrm>
            <a:off x="4709160" y="1508760"/>
            <a:ext cx="3977640" cy="868680"/>
          </a:xfrm>
          <a:prstGeom prst="rect">
            <a:avLst/>
          </a:prstGeom>
          <a:noFill/>
          <a:ln/>
        </p:spPr>
        <p:txBody>
          <a:bodyPr wrap="square" lIns="0" tIns="0" rIns="0" bIns="0" rtlCol="0" anchor="t"/>
          <a:lstStyle/>
          <a:p>
            <a:pPr indent="0" marL="0">
              <a:buNone/>
            </a:pPr>
            <a:r>
              <a:rPr lang="en-US" sz="1400" dirty="0">
                <a:solidFill>
                  <a:schemeClr val="tx1"/>
                </a:solidFill>
              </a:rPr>
              <a:t>It keeps 2 copies of each box running, replaces any that crash, and adds more (up to 6) when traffic grows.</a:t>
            </a:r>
            <a:endParaRPr lang="en-US" sz="1400" dirty="0"/>
          </a:p>
          <a:p>
            <a:pPr indent="0" marL="0">
              <a:buNone/>
            </a:pPr>
            <a:r>
              <a:rPr lang="en-US" sz="1400" b="1" dirty="0">
                <a:solidFill>
                  <a:schemeClr val="tx1"/>
                </a:solidFill>
              </a:rPr>
              <a:t>Here: all pods Running on minikube.</a:t>
            </a:r>
            <a:endParaRPr lang="en-US" sz="1400" dirty="0"/>
          </a:p>
        </p:txBody>
      </p:sp>
      <p:pic>
        <p:nvPicPr>
          <p:cNvPr id="9" name="Kubernetes screenshot" descr="kubectl get pods showing all taskboard pods Running, and the dashboard at taskboard.local">    </p:cNvPr>
          <p:cNvPicPr>
            <a:picLocks noChangeAspect="1"/>
          </p:cNvPicPr>
          <p:nvPr/>
        </p:nvPicPr>
        <p:blipFill>
          <a:blip r:embed="rId2"/>
          <a:stretch>
            <a:fillRect/>
          </a:stretch>
        </p:blipFill>
        <p:spPr>
          <a:xfrm>
            <a:off x="4709160" y="2514600"/>
            <a:ext cx="3977640" cy="2113178"/>
          </a:xfrm>
          <a:prstGeom prst="rect">
            <a:avLst/>
          </a:prstGeom>
        </p:spPr>
      </p:pic>
      <p:sp>
        <p:nvSpPr>
          <p:cNvPr id="10" name="Kubernetes screenshot frame"/>
          <p:cNvSpPr/>
          <p:nvPr/>
        </p:nvSpPr>
        <p:spPr>
          <a:xfrm>
            <a:off x="4709160" y="2514600"/>
            <a:ext cx="3977640" cy="2113178"/>
          </a:xfrm>
          <a:prstGeom prst="rect">
            <a:avLst/>
          </a:prstGeom>
          <a:solidFill>
            <a:srgbClr val="FFFFFF">
              <a:alpha val="0"/>
            </a:srgbClr>
          </a:solidFill>
          <a:ln w="12700">
            <a:solidFill>
              <a:srgbClr val="CBD5E1"/>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CI/CD: the automatic delivery line</a:t>
            </a:r>
            <a:endParaRPr lang="en-US" sz="3200" dirty="0"/>
          </a:p>
        </p:txBody>
      </p:sp>
      <p:pic>
        <p:nvPicPr>
          <p:cNvPr id="3" name="CI/CD screenshot" descr="GitHub Actions run where Test, Build + Trivy scan + Push, and Deploy via Helm all succeeded">    </p:cNvPr>
          <p:cNvPicPr>
            <a:picLocks noChangeAspect="1"/>
          </p:cNvPicPr>
          <p:nvPr/>
        </p:nvPicPr>
        <p:blipFill>
          <a:blip r:embed="rId1"/>
          <a:stretch>
            <a:fillRect/>
          </a:stretch>
        </p:blipFill>
        <p:spPr>
          <a:xfrm>
            <a:off x="457200" y="1143000"/>
            <a:ext cx="4937760" cy="2490826"/>
          </a:xfrm>
          <a:prstGeom prst="rect">
            <a:avLst/>
          </a:prstGeom>
        </p:spPr>
      </p:pic>
      <p:sp>
        <p:nvSpPr>
          <p:cNvPr id="4" name="CI/CD screenshot frame"/>
          <p:cNvSpPr/>
          <p:nvPr/>
        </p:nvSpPr>
        <p:spPr>
          <a:xfrm>
            <a:off x="457200" y="1143000"/>
            <a:ext cx="4937760" cy="2490826"/>
          </a:xfrm>
          <a:prstGeom prst="rect">
            <a:avLst/>
          </a:prstGeom>
          <a:solidFill>
            <a:srgbClr val="FFFFFF">
              <a:alpha val="0"/>
            </a:srgbClr>
          </a:solidFill>
          <a:ln w="12700">
            <a:solidFill>
              <a:srgbClr val="CBD5E1"/>
            </a:solidFill>
            <a:prstDash val="solid"/>
          </a:ln>
        </p:spPr>
      </p:sp>
      <p:sp>
        <p:nvSpPr>
          <p:cNvPr id="5" name="CICD definition"/>
          <p:cNvSpPr txBox="1"/>
          <p:nvPr/>
        </p:nvSpPr>
        <p:spPr>
          <a:xfrm>
            <a:off x="457200" y="3816706"/>
            <a:ext cx="4937760" cy="685800"/>
          </a:xfrm>
          <a:prstGeom prst="rect">
            <a:avLst/>
          </a:prstGeom>
          <a:noFill/>
          <a:ln/>
        </p:spPr>
        <p:txBody>
          <a:bodyPr wrap="square" lIns="0" tIns="0" rIns="0" bIns="0" rtlCol="0" anchor="t"/>
          <a:lstStyle/>
          <a:p>
            <a:pPr indent="0" marL="0">
              <a:buNone/>
            </a:pPr>
            <a:r>
              <a:rPr lang="en-US" sz="1400" i="1" dirty="0">
                <a:solidFill>
                  <a:schemeClr val="tx2"/>
                </a:solidFill>
              </a:rPr>
              <a:t>CI/CD means every code push is tested, packaged, scanned and deployed automatically. This real run passed all 3 jobs.</a:t>
            </a:r>
            <a:endParaRPr lang="en-US" sz="1400" dirty="0"/>
          </a:p>
        </p:txBody>
      </p:sp>
      <p:sp>
        <p:nvSpPr>
          <p:cNvPr id="6" name="Step circle 1"/>
          <p:cNvSpPr/>
          <p:nvPr/>
        </p:nvSpPr>
        <p:spPr>
          <a:xfrm>
            <a:off x="5669280" y="1216152"/>
            <a:ext cx="411480" cy="411480"/>
          </a:xfrm>
          <a:prstGeom prst="ellipse">
            <a:avLst/>
          </a:prstGeom>
          <a:solidFill>
            <a:schemeClr val="accent1"/>
          </a:solidFill>
          <a:ln/>
        </p:spPr>
      </p:sp>
      <p:sp>
        <p:nvSpPr>
          <p:cNvPr id="7" name="Step number 1"/>
          <p:cNvSpPr txBox="1"/>
          <p:nvPr/>
        </p:nvSpPr>
        <p:spPr>
          <a:xfrm>
            <a:off x="5669280" y="121615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Step text 1"/>
          <p:cNvSpPr txBox="1"/>
          <p:nvPr/>
        </p:nvSpPr>
        <p:spPr>
          <a:xfrm>
            <a:off x="6263640" y="1143000"/>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Test</a:t>
            </a:r>
            <a:endParaRPr lang="en-US" sz="1600" dirty="0"/>
          </a:p>
          <a:p>
            <a:pPr indent="0" marL="0">
              <a:buNone/>
            </a:pPr>
            <a:r>
              <a:rPr lang="en-US" sz="1400" dirty="0">
                <a:solidFill>
                  <a:schemeClr val="tx2"/>
                </a:solidFill>
              </a:rPr>
              <a:t>pytest runs first; red stops all</a:t>
            </a:r>
            <a:endParaRPr lang="en-US" sz="1600" dirty="0"/>
          </a:p>
        </p:txBody>
      </p:sp>
      <p:sp>
        <p:nvSpPr>
          <p:cNvPr id="9" name="Step circle 2"/>
          <p:cNvSpPr/>
          <p:nvPr/>
        </p:nvSpPr>
        <p:spPr>
          <a:xfrm>
            <a:off x="5669280" y="1929384"/>
            <a:ext cx="411480" cy="411480"/>
          </a:xfrm>
          <a:prstGeom prst="ellipse">
            <a:avLst/>
          </a:prstGeom>
          <a:solidFill>
            <a:schemeClr val="accent1"/>
          </a:solidFill>
          <a:ln/>
        </p:spPr>
      </p:sp>
      <p:sp>
        <p:nvSpPr>
          <p:cNvPr id="10" name="Step number 2"/>
          <p:cNvSpPr txBox="1"/>
          <p:nvPr/>
        </p:nvSpPr>
        <p:spPr>
          <a:xfrm>
            <a:off x="5669280" y="192938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Step text 2"/>
          <p:cNvSpPr txBox="1"/>
          <p:nvPr/>
        </p:nvSpPr>
        <p:spPr>
          <a:xfrm>
            <a:off x="6263640" y="1856232"/>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Build</a:t>
            </a:r>
            <a:endParaRPr lang="en-US" sz="1600" dirty="0"/>
          </a:p>
          <a:p>
            <a:pPr indent="0" marL="0">
              <a:buNone/>
            </a:pPr>
            <a:r>
              <a:rPr lang="en-US" sz="1400" dirty="0">
                <a:solidFill>
                  <a:schemeClr val="tx2"/>
                </a:solidFill>
              </a:rPr>
              <a:t>Images tagged with commit ID</a:t>
            </a:r>
            <a:endParaRPr lang="en-US" sz="1600" dirty="0"/>
          </a:p>
        </p:txBody>
      </p:sp>
      <p:sp>
        <p:nvSpPr>
          <p:cNvPr id="12" name="Step circle 3"/>
          <p:cNvSpPr/>
          <p:nvPr/>
        </p:nvSpPr>
        <p:spPr>
          <a:xfrm>
            <a:off x="5669280" y="2642616"/>
            <a:ext cx="411480" cy="411480"/>
          </a:xfrm>
          <a:prstGeom prst="ellipse">
            <a:avLst/>
          </a:prstGeom>
          <a:solidFill>
            <a:schemeClr val="accent1"/>
          </a:solidFill>
          <a:ln/>
        </p:spPr>
      </p:sp>
      <p:sp>
        <p:nvSpPr>
          <p:cNvPr id="13" name="Step number 3"/>
          <p:cNvSpPr txBox="1"/>
          <p:nvPr/>
        </p:nvSpPr>
        <p:spPr>
          <a:xfrm>
            <a:off x="5669280" y="264261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Step text 3"/>
          <p:cNvSpPr txBox="1"/>
          <p:nvPr/>
        </p:nvSpPr>
        <p:spPr>
          <a:xfrm>
            <a:off x="6263640" y="2569464"/>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Scan</a:t>
            </a:r>
            <a:endParaRPr lang="en-US" sz="1600" dirty="0"/>
          </a:p>
          <a:p>
            <a:pPr indent="0" marL="0">
              <a:buNone/>
            </a:pPr>
            <a:r>
              <a:rPr lang="en-US" sz="1400" dirty="0">
                <a:solidFill>
                  <a:schemeClr val="tx2"/>
                </a:solidFill>
              </a:rPr>
              <a:t>Trivy blocks serious issues</a:t>
            </a:r>
            <a:endParaRPr lang="en-US" sz="1600" dirty="0"/>
          </a:p>
        </p:txBody>
      </p:sp>
      <p:sp>
        <p:nvSpPr>
          <p:cNvPr id="15" name="Step circle 4"/>
          <p:cNvSpPr/>
          <p:nvPr/>
        </p:nvSpPr>
        <p:spPr>
          <a:xfrm>
            <a:off x="5669280" y="3355848"/>
            <a:ext cx="411480" cy="411480"/>
          </a:xfrm>
          <a:prstGeom prst="ellipse">
            <a:avLst/>
          </a:prstGeom>
          <a:solidFill>
            <a:schemeClr val="accent1"/>
          </a:solidFill>
          <a:ln/>
        </p:spPr>
      </p:sp>
      <p:sp>
        <p:nvSpPr>
          <p:cNvPr id="16" name="Step number 4"/>
          <p:cNvSpPr txBox="1"/>
          <p:nvPr/>
        </p:nvSpPr>
        <p:spPr>
          <a:xfrm>
            <a:off x="5669280" y="33558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Step text 4"/>
          <p:cNvSpPr txBox="1"/>
          <p:nvPr/>
        </p:nvSpPr>
        <p:spPr>
          <a:xfrm>
            <a:off x="6263640" y="3282696"/>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Push</a:t>
            </a:r>
            <a:endParaRPr lang="en-US" sz="1600" dirty="0"/>
          </a:p>
          <a:p>
            <a:pPr indent="0" marL="0">
              <a:buNone/>
            </a:pPr>
            <a:r>
              <a:rPr lang="en-US" sz="1400" dirty="0">
                <a:solidFill>
                  <a:schemeClr val="tx2"/>
                </a:solidFill>
              </a:rPr>
              <a:t>Safe images go to GHCR</a:t>
            </a:r>
            <a:endParaRPr lang="en-US" sz="1600" dirty="0"/>
          </a:p>
        </p:txBody>
      </p:sp>
      <p:sp>
        <p:nvSpPr>
          <p:cNvPr id="18" name="Step circle 5"/>
          <p:cNvSpPr/>
          <p:nvPr/>
        </p:nvSpPr>
        <p:spPr>
          <a:xfrm>
            <a:off x="5669280" y="4069080"/>
            <a:ext cx="411480" cy="411480"/>
          </a:xfrm>
          <a:prstGeom prst="ellipse">
            <a:avLst/>
          </a:prstGeom>
          <a:solidFill>
            <a:schemeClr val="accent1"/>
          </a:solidFill>
          <a:ln/>
        </p:spPr>
      </p:sp>
      <p:sp>
        <p:nvSpPr>
          <p:cNvPr id="19" name="Step number 5"/>
          <p:cNvSpPr txBox="1"/>
          <p:nvPr/>
        </p:nvSpPr>
        <p:spPr>
          <a:xfrm>
            <a:off x="5669280" y="4069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0" name="Step text 5"/>
          <p:cNvSpPr txBox="1"/>
          <p:nvPr/>
        </p:nvSpPr>
        <p:spPr>
          <a:xfrm>
            <a:off x="6263640" y="3995928"/>
            <a:ext cx="2423160" cy="594360"/>
          </a:xfrm>
          <a:prstGeom prst="rect">
            <a:avLst/>
          </a:prstGeom>
          <a:noFill/>
          <a:ln/>
        </p:spPr>
        <p:txBody>
          <a:bodyPr wrap="square" lIns="0" tIns="0" rIns="0" bIns="0" rtlCol="0" anchor="ctr"/>
          <a:lstStyle/>
          <a:p>
            <a:pPr indent="0" marL="0">
              <a:buNone/>
            </a:pPr>
            <a:r>
              <a:rPr lang="en-US" sz="1600" b="1" dirty="0">
                <a:solidFill>
                  <a:schemeClr val="tx1"/>
                </a:solidFill>
              </a:rPr>
              <a:t>Deploy</a:t>
            </a:r>
            <a:endParaRPr lang="en-US" sz="1600" dirty="0"/>
          </a:p>
          <a:p>
            <a:pPr indent="0" marL="0">
              <a:buNone/>
            </a:pPr>
            <a:r>
              <a:rPr lang="en-US" sz="1400" dirty="0">
                <a:solidFill>
                  <a:schemeClr val="tx2"/>
                </a:solidFill>
              </a:rPr>
              <a:t>Helm updates Kubernetes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Watching the app: monitoring</a:t>
            </a:r>
            <a:endParaRPr lang="en-US" sz="3200" dirty="0"/>
          </a:p>
        </p:txBody>
      </p:sp>
      <p:sp>
        <p:nvSpPr>
          <p:cNvPr id="3" name="Check card 1"/>
          <p:cNvSpPr/>
          <p:nvPr/>
        </p:nvSpPr>
        <p:spPr>
          <a:xfrm>
            <a:off x="457200" y="1188720"/>
            <a:ext cx="2560320" cy="1737360"/>
          </a:xfrm>
          <a:prstGeom prst="roundRect">
            <a:avLst>
              <a:gd name="adj" fmla="val 4211"/>
            </a:avLst>
          </a:prstGeom>
          <a:solidFill>
            <a:schemeClr val="bg2"/>
          </a:solidFill>
          <a:ln/>
        </p:spPr>
      </p:sp>
      <p:sp>
        <p:nvSpPr>
          <p:cNvPr id="4" name="Check title 1"/>
          <p:cNvSpPr txBox="1"/>
          <p:nvPr/>
        </p:nvSpPr>
        <p:spPr>
          <a:xfrm>
            <a:off x="640080" y="1298448"/>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Is it alive?</a:t>
            </a:r>
            <a:endParaRPr lang="en-US" sz="1600" dirty="0"/>
          </a:p>
        </p:txBody>
      </p:sp>
      <p:sp>
        <p:nvSpPr>
          <p:cNvPr id="5" name="Check path 1"/>
          <p:cNvSpPr txBox="1"/>
          <p:nvPr/>
        </p:nvSpPr>
        <p:spPr>
          <a:xfrm>
            <a:off x="640080" y="1664208"/>
            <a:ext cx="2194560" cy="320040"/>
          </a:xfrm>
          <a:prstGeom prst="rect">
            <a:avLst/>
          </a:prstGeom>
          <a:noFill/>
          <a:ln/>
        </p:spPr>
        <p:txBody>
          <a:bodyPr wrap="square" lIns="0" tIns="0" rIns="0" bIns="0" rtlCol="0" anchor="ctr"/>
          <a:lstStyle/>
          <a:p>
            <a:pPr indent="0" marL="0">
              <a:buNone/>
            </a:pPr>
            <a:r>
              <a:rPr lang="en-US" sz="1400" b="1" dirty="0">
                <a:solidFill>
                  <a:schemeClr val="accent1"/>
                </a:solidFill>
              </a:rPr>
              <a:t>/health</a:t>
            </a:r>
            <a:endParaRPr lang="en-US" sz="1400" dirty="0"/>
          </a:p>
        </p:txBody>
      </p:sp>
      <p:sp>
        <p:nvSpPr>
          <p:cNvPr id="6" name="Check text 1"/>
          <p:cNvSpPr txBox="1"/>
          <p:nvPr/>
        </p:nvSpPr>
        <p:spPr>
          <a:xfrm>
            <a:off x="640080" y="2011680"/>
            <a:ext cx="2194560" cy="822960"/>
          </a:xfrm>
          <a:prstGeom prst="rect">
            <a:avLst/>
          </a:prstGeom>
          <a:noFill/>
          <a:ln/>
        </p:spPr>
        <p:txBody>
          <a:bodyPr wrap="square" lIns="0" tIns="0" rIns="0" bIns="0" rtlCol="0" anchor="t"/>
          <a:lstStyle/>
          <a:p>
            <a:pPr indent="0" marL="0">
              <a:buNone/>
            </a:pPr>
            <a:r>
              <a:rPr lang="en-US" sz="1400" dirty="0">
                <a:solidFill>
                  <a:schemeClr val="tx2"/>
                </a:solidFill>
              </a:rPr>
              <a:t>A cheap check. If it fails, Kubernetes restarts the app.</a:t>
            </a:r>
            <a:endParaRPr lang="en-US" sz="1400" dirty="0"/>
          </a:p>
        </p:txBody>
      </p:sp>
      <p:sp>
        <p:nvSpPr>
          <p:cNvPr id="7" name="Check card 2"/>
          <p:cNvSpPr/>
          <p:nvPr/>
        </p:nvSpPr>
        <p:spPr>
          <a:xfrm>
            <a:off x="3291840" y="1188720"/>
            <a:ext cx="2560320" cy="1737360"/>
          </a:xfrm>
          <a:prstGeom prst="roundRect">
            <a:avLst>
              <a:gd name="adj" fmla="val 4211"/>
            </a:avLst>
          </a:prstGeom>
          <a:solidFill>
            <a:schemeClr val="bg2"/>
          </a:solidFill>
          <a:ln/>
        </p:spPr>
      </p:sp>
      <p:sp>
        <p:nvSpPr>
          <p:cNvPr id="8" name="Check title 2"/>
          <p:cNvSpPr txBox="1"/>
          <p:nvPr/>
        </p:nvSpPr>
        <p:spPr>
          <a:xfrm>
            <a:off x="3474720" y="1298448"/>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Is it ready?</a:t>
            </a:r>
            <a:endParaRPr lang="en-US" sz="1600" dirty="0"/>
          </a:p>
        </p:txBody>
      </p:sp>
      <p:sp>
        <p:nvSpPr>
          <p:cNvPr id="9" name="Check path 2"/>
          <p:cNvSpPr txBox="1"/>
          <p:nvPr/>
        </p:nvSpPr>
        <p:spPr>
          <a:xfrm>
            <a:off x="3474720" y="1664208"/>
            <a:ext cx="2194560" cy="320040"/>
          </a:xfrm>
          <a:prstGeom prst="rect">
            <a:avLst/>
          </a:prstGeom>
          <a:noFill/>
          <a:ln/>
        </p:spPr>
        <p:txBody>
          <a:bodyPr wrap="square" lIns="0" tIns="0" rIns="0" bIns="0" rtlCol="0" anchor="ctr"/>
          <a:lstStyle/>
          <a:p>
            <a:pPr indent="0" marL="0">
              <a:buNone/>
            </a:pPr>
            <a:r>
              <a:rPr lang="en-US" sz="1400" b="1" dirty="0">
                <a:solidFill>
                  <a:schemeClr val="accent1"/>
                </a:solidFill>
              </a:rPr>
              <a:t>/ready</a:t>
            </a:r>
            <a:endParaRPr lang="en-US" sz="1400" dirty="0"/>
          </a:p>
        </p:txBody>
      </p:sp>
      <p:sp>
        <p:nvSpPr>
          <p:cNvPr id="10" name="Check text 2"/>
          <p:cNvSpPr txBox="1"/>
          <p:nvPr/>
        </p:nvSpPr>
        <p:spPr>
          <a:xfrm>
            <a:off x="3474720" y="2011680"/>
            <a:ext cx="2194560" cy="822960"/>
          </a:xfrm>
          <a:prstGeom prst="rect">
            <a:avLst/>
          </a:prstGeom>
          <a:noFill/>
          <a:ln/>
        </p:spPr>
        <p:txBody>
          <a:bodyPr wrap="square" lIns="0" tIns="0" rIns="0" bIns="0" rtlCol="0" anchor="t"/>
          <a:lstStyle/>
          <a:p>
            <a:pPr indent="0" marL="0">
              <a:buNone/>
            </a:pPr>
            <a:r>
              <a:rPr lang="en-US" sz="1400" dirty="0">
                <a:solidFill>
                  <a:schemeClr val="tx2"/>
                </a:solidFill>
              </a:rPr>
              <a:t>Asks the database a quick question. Only ready copies get traffic.</a:t>
            </a:r>
            <a:endParaRPr lang="en-US" sz="1400" dirty="0"/>
          </a:p>
        </p:txBody>
      </p:sp>
      <p:sp>
        <p:nvSpPr>
          <p:cNvPr id="11" name="Check card 3"/>
          <p:cNvSpPr/>
          <p:nvPr/>
        </p:nvSpPr>
        <p:spPr>
          <a:xfrm>
            <a:off x="6126480" y="1188720"/>
            <a:ext cx="2560320" cy="1737360"/>
          </a:xfrm>
          <a:prstGeom prst="roundRect">
            <a:avLst>
              <a:gd name="adj" fmla="val 4211"/>
            </a:avLst>
          </a:prstGeom>
          <a:solidFill>
            <a:schemeClr val="bg2"/>
          </a:solidFill>
          <a:ln/>
        </p:spPr>
      </p:sp>
      <p:sp>
        <p:nvSpPr>
          <p:cNvPr id="12" name="Check title 3"/>
          <p:cNvSpPr txBox="1"/>
          <p:nvPr/>
        </p:nvSpPr>
        <p:spPr>
          <a:xfrm>
            <a:off x="6309360" y="1298448"/>
            <a:ext cx="2194560" cy="365760"/>
          </a:xfrm>
          <a:prstGeom prst="rect">
            <a:avLst/>
          </a:prstGeom>
          <a:noFill/>
          <a:ln/>
        </p:spPr>
        <p:txBody>
          <a:bodyPr wrap="square" lIns="0" tIns="0" rIns="0" bIns="0" rtlCol="0" anchor="ctr"/>
          <a:lstStyle/>
          <a:p>
            <a:pPr indent="0" marL="0">
              <a:buNone/>
            </a:pPr>
            <a:r>
              <a:rPr lang="en-US" sz="1600" b="1" dirty="0">
                <a:solidFill>
                  <a:schemeClr val="tx1"/>
                </a:solidFill>
              </a:rPr>
              <a:t>How busy is it?</a:t>
            </a:r>
            <a:endParaRPr lang="en-US" sz="1600" dirty="0"/>
          </a:p>
        </p:txBody>
      </p:sp>
      <p:sp>
        <p:nvSpPr>
          <p:cNvPr id="13" name="Check path 3"/>
          <p:cNvSpPr txBox="1"/>
          <p:nvPr/>
        </p:nvSpPr>
        <p:spPr>
          <a:xfrm>
            <a:off x="6309360" y="1664208"/>
            <a:ext cx="2194560" cy="320040"/>
          </a:xfrm>
          <a:prstGeom prst="rect">
            <a:avLst/>
          </a:prstGeom>
          <a:noFill/>
          <a:ln/>
        </p:spPr>
        <p:txBody>
          <a:bodyPr wrap="square" lIns="0" tIns="0" rIns="0" bIns="0" rtlCol="0" anchor="ctr"/>
          <a:lstStyle/>
          <a:p>
            <a:pPr indent="0" marL="0">
              <a:buNone/>
            </a:pPr>
            <a:r>
              <a:rPr lang="en-US" sz="1400" b="1" dirty="0">
                <a:solidFill>
                  <a:schemeClr val="accent1"/>
                </a:solidFill>
              </a:rPr>
              <a:t>/metrics</a:t>
            </a:r>
            <a:endParaRPr lang="en-US" sz="1400" dirty="0"/>
          </a:p>
        </p:txBody>
      </p:sp>
      <p:sp>
        <p:nvSpPr>
          <p:cNvPr id="14" name="Check text 3"/>
          <p:cNvSpPr txBox="1"/>
          <p:nvPr/>
        </p:nvSpPr>
        <p:spPr>
          <a:xfrm>
            <a:off x="6309360" y="2011680"/>
            <a:ext cx="2194560" cy="822960"/>
          </a:xfrm>
          <a:prstGeom prst="rect">
            <a:avLst/>
          </a:prstGeom>
          <a:noFill/>
          <a:ln/>
        </p:spPr>
        <p:txBody>
          <a:bodyPr wrap="square" lIns="0" tIns="0" rIns="0" bIns="0" rtlCol="0" anchor="t"/>
          <a:lstStyle/>
          <a:p>
            <a:pPr indent="0" marL="0">
              <a:buNone/>
            </a:pPr>
            <a:r>
              <a:rPr lang="en-US" sz="1400" dirty="0">
                <a:solidFill>
                  <a:schemeClr val="tx2"/>
                </a:solidFill>
              </a:rPr>
              <a:t>Counts requests and timings so Prometheus can read them.</a:t>
            </a:r>
            <a:endParaRPr lang="en-US" sz="1400" dirty="0"/>
          </a:p>
        </p:txBody>
      </p:sp>
      <p:sp>
        <p:nvSpPr>
          <p:cNvPr id="15" name="Flow heading"/>
          <p:cNvSpPr txBox="1"/>
          <p:nvPr/>
        </p:nvSpPr>
        <p:spPr>
          <a:xfrm>
            <a:off x="457200" y="3154680"/>
            <a:ext cx="8229600" cy="320040"/>
          </a:xfrm>
          <a:prstGeom prst="rect">
            <a:avLst/>
          </a:prstGeom>
          <a:noFill/>
          <a:ln/>
        </p:spPr>
        <p:txBody>
          <a:bodyPr wrap="square" lIns="0" tIns="0" rIns="0" bIns="0" rtlCol="0" anchor="ctr"/>
          <a:lstStyle/>
          <a:p>
            <a:pPr indent="0" marL="0">
              <a:buNone/>
            </a:pPr>
            <a:r>
              <a:rPr lang="en-US" sz="1600" b="1" dirty="0">
                <a:solidFill>
                  <a:schemeClr val="tx1"/>
                </a:solidFill>
              </a:rPr>
              <a:t>From numbers to pictures</a:t>
            </a:r>
            <a:endParaRPr lang="en-US" sz="1600" dirty="0"/>
          </a:p>
        </p:txBody>
      </p:sp>
      <p:sp>
        <p:nvSpPr>
          <p:cNvPr id="16" name="Flow box 1"/>
          <p:cNvSpPr/>
          <p:nvPr/>
        </p:nvSpPr>
        <p:spPr>
          <a:xfrm>
            <a:off x="457200" y="3566160"/>
            <a:ext cx="2286000" cy="914400"/>
          </a:xfrm>
          <a:prstGeom prst="roundRect">
            <a:avLst>
              <a:gd name="adj" fmla="val 8000"/>
            </a:avLst>
          </a:prstGeom>
          <a:solidFill>
            <a:schemeClr val="tx1"/>
          </a:solidFill>
          <a:ln/>
        </p:spPr>
      </p:sp>
      <p:sp>
        <p:nvSpPr>
          <p:cNvPr id="17" name="Flow text 1"/>
          <p:cNvSpPr txBox="1"/>
          <p:nvPr/>
        </p:nvSpPr>
        <p:spPr>
          <a:xfrm>
            <a:off x="457200" y="3566160"/>
            <a:ext cx="2286000" cy="914400"/>
          </a:xfrm>
          <a:prstGeom prst="rect">
            <a:avLst/>
          </a:prstGeom>
          <a:noFill/>
          <a:ln/>
        </p:spPr>
        <p:txBody>
          <a:bodyPr wrap="square" lIns="0" tIns="0" rIns="0" bIns="0" rtlCol="0" anchor="ctr"/>
          <a:lstStyle/>
          <a:p>
            <a:pPr algn="ctr" indent="0" marL="0">
              <a:buNone/>
            </a:pPr>
            <a:r>
              <a:rPr lang="en-US" sz="1600" b="1" dirty="0">
                <a:solidFill>
                  <a:schemeClr val="bg1"/>
                </a:solidFill>
              </a:rPr>
              <a:t>Prometheus</a:t>
            </a:r>
            <a:endParaRPr lang="en-US" sz="1600" dirty="0"/>
          </a:p>
          <a:p>
            <a:pPr algn="ctr" indent="0" marL="0">
              <a:buNone/>
            </a:pPr>
            <a:r>
              <a:rPr lang="en-US" sz="1400" dirty="0">
                <a:solidFill>
                  <a:schemeClr val="bg1"/>
                </a:solidFill>
              </a:rPr>
              <a:t>collects the numbers</a:t>
            </a:r>
            <a:endParaRPr lang="en-US" sz="1600" dirty="0"/>
          </a:p>
        </p:txBody>
      </p:sp>
      <p:sp>
        <p:nvSpPr>
          <p:cNvPr id="18" name="Flow arrow 1"/>
          <p:cNvSpPr txBox="1"/>
          <p:nvPr/>
        </p:nvSpPr>
        <p:spPr>
          <a:xfrm>
            <a:off x="2743200" y="3566160"/>
            <a:ext cx="548640" cy="91440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19" name="Flow box 2"/>
          <p:cNvSpPr/>
          <p:nvPr/>
        </p:nvSpPr>
        <p:spPr>
          <a:xfrm>
            <a:off x="3291840" y="3566160"/>
            <a:ext cx="2286000" cy="914400"/>
          </a:xfrm>
          <a:prstGeom prst="roundRect">
            <a:avLst>
              <a:gd name="adj" fmla="val 8000"/>
            </a:avLst>
          </a:prstGeom>
          <a:solidFill>
            <a:schemeClr val="tx1"/>
          </a:solidFill>
          <a:ln/>
        </p:spPr>
      </p:sp>
      <p:sp>
        <p:nvSpPr>
          <p:cNvPr id="20" name="Flow text 2"/>
          <p:cNvSpPr txBox="1"/>
          <p:nvPr/>
        </p:nvSpPr>
        <p:spPr>
          <a:xfrm>
            <a:off x="3291840" y="3566160"/>
            <a:ext cx="2286000" cy="914400"/>
          </a:xfrm>
          <a:prstGeom prst="rect">
            <a:avLst/>
          </a:prstGeom>
          <a:noFill/>
          <a:ln/>
        </p:spPr>
        <p:txBody>
          <a:bodyPr wrap="square" lIns="0" tIns="0" rIns="0" bIns="0" rtlCol="0" anchor="ctr"/>
          <a:lstStyle/>
          <a:p>
            <a:pPr algn="ctr" indent="0" marL="0">
              <a:buNone/>
            </a:pPr>
            <a:r>
              <a:rPr lang="en-US" sz="1600" b="1" dirty="0">
                <a:solidFill>
                  <a:schemeClr val="bg1"/>
                </a:solidFill>
              </a:rPr>
              <a:t>Grafana</a:t>
            </a:r>
            <a:endParaRPr lang="en-US" sz="1600" dirty="0"/>
          </a:p>
          <a:p>
            <a:pPr algn="ctr" indent="0" marL="0">
              <a:buNone/>
            </a:pPr>
            <a:r>
              <a:rPr lang="en-US" sz="1400" dirty="0">
                <a:solidFill>
                  <a:schemeClr val="bg1"/>
                </a:solidFill>
              </a:rPr>
              <a:t>turns them into charts</a:t>
            </a:r>
            <a:endParaRPr lang="en-US" sz="1600" dirty="0"/>
          </a:p>
        </p:txBody>
      </p:sp>
      <p:sp>
        <p:nvSpPr>
          <p:cNvPr id="21" name="Flow arrow 2"/>
          <p:cNvSpPr txBox="1"/>
          <p:nvPr/>
        </p:nvSpPr>
        <p:spPr>
          <a:xfrm>
            <a:off x="5577840" y="3566160"/>
            <a:ext cx="548640" cy="914400"/>
          </a:xfrm>
          <a:prstGeom prst="rect">
            <a:avLst/>
          </a:prstGeom>
          <a:noFill/>
          <a:ln/>
        </p:spPr>
        <p:txBody>
          <a:bodyPr wrap="square" lIns="0" tIns="0" rIns="0" bIns="0" rtlCol="0" anchor="ctr"/>
          <a:lstStyle/>
          <a:p>
            <a:pPr algn="ctr" indent="0" marL="0">
              <a:buNone/>
            </a:pPr>
            <a:r>
              <a:rPr lang="en-US" sz="2800" b="1" dirty="0">
                <a:solidFill>
                  <a:schemeClr val="accent1"/>
                </a:solidFill>
              </a:rPr>
              <a:t>→</a:t>
            </a:r>
            <a:endParaRPr lang="en-US" sz="2800" dirty="0"/>
          </a:p>
        </p:txBody>
      </p:sp>
      <p:sp>
        <p:nvSpPr>
          <p:cNvPr id="22" name="Flow box 3"/>
          <p:cNvSpPr/>
          <p:nvPr/>
        </p:nvSpPr>
        <p:spPr>
          <a:xfrm>
            <a:off x="6126480" y="3566160"/>
            <a:ext cx="2286000" cy="914400"/>
          </a:xfrm>
          <a:prstGeom prst="roundRect">
            <a:avLst>
              <a:gd name="adj" fmla="val 8000"/>
            </a:avLst>
          </a:prstGeom>
          <a:solidFill>
            <a:schemeClr val="accent1"/>
          </a:solidFill>
          <a:ln/>
        </p:spPr>
      </p:sp>
      <p:sp>
        <p:nvSpPr>
          <p:cNvPr id="23" name="Flow text 3"/>
          <p:cNvSpPr txBox="1"/>
          <p:nvPr/>
        </p:nvSpPr>
        <p:spPr>
          <a:xfrm>
            <a:off x="6126480" y="3566160"/>
            <a:ext cx="2286000" cy="914400"/>
          </a:xfrm>
          <a:prstGeom prst="rect">
            <a:avLst/>
          </a:prstGeom>
          <a:noFill/>
          <a:ln/>
        </p:spPr>
        <p:txBody>
          <a:bodyPr wrap="square" lIns="0" tIns="0" rIns="0" bIns="0" rtlCol="0" anchor="ctr"/>
          <a:lstStyle/>
          <a:p>
            <a:pPr algn="ctr" indent="0" marL="0">
              <a:buNone/>
            </a:pPr>
            <a:r>
              <a:rPr lang="en-US" sz="1600" b="1" dirty="0">
                <a:solidFill>
                  <a:schemeClr val="bg1"/>
                </a:solidFill>
              </a:rPr>
              <a:t>You</a:t>
            </a:r>
            <a:endParaRPr lang="en-US" sz="1600" dirty="0"/>
          </a:p>
          <a:p>
            <a:pPr algn="ctr" indent="0" marL="0">
              <a:buNone/>
            </a:pPr>
            <a:r>
              <a:rPr lang="en-US" sz="1400" dirty="0">
                <a:solidFill>
                  <a:schemeClr val="bg1"/>
                </a:solidFill>
              </a:rPr>
              <a:t>spot slow or failing parts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Staying safe, and fixing things</a:t>
            </a:r>
            <a:endParaRPr lang="en-US" sz="3200" dirty="0"/>
          </a:p>
        </p:txBody>
      </p:sp>
      <p:sp>
        <p:nvSpPr>
          <p:cNvPr id="3" name="Security stat"/>
          <p:cNvSpPr txBox="1"/>
          <p:nvPr/>
        </p:nvSpPr>
        <p:spPr>
          <a:xfrm>
            <a:off x="457200" y="1143000"/>
            <a:ext cx="3977640" cy="731520"/>
          </a:xfrm>
          <a:prstGeom prst="rect">
            <a:avLst/>
          </a:prstGeom>
          <a:noFill/>
          <a:ln/>
        </p:spPr>
        <p:txBody>
          <a:bodyPr wrap="square" lIns="0" tIns="0" rIns="0" bIns="0" rtlCol="0" anchor="ctr"/>
          <a:lstStyle/>
          <a:p>
            <a:pPr indent="0" marL="0">
              <a:buNone/>
            </a:pPr>
            <a:r>
              <a:rPr lang="en-US" sz="4400" b="1" dirty="0">
                <a:solidFill>
                  <a:schemeClr val="accent1"/>
                </a:solidFill>
              </a:rPr>
              <a:t>6 → 0</a:t>
            </a:r>
            <a:endParaRPr lang="en-US" sz="4400" dirty="0"/>
          </a:p>
        </p:txBody>
      </p:sp>
      <p:sp>
        <p:nvSpPr>
          <p:cNvPr id="4" name="Security stat label"/>
          <p:cNvSpPr txBox="1"/>
          <p:nvPr/>
        </p:nvSpPr>
        <p:spPr>
          <a:xfrm>
            <a:off x="457200" y="1874520"/>
            <a:ext cx="3977640" cy="548640"/>
          </a:xfrm>
          <a:prstGeom prst="rect">
            <a:avLst/>
          </a:prstGeom>
          <a:noFill/>
          <a:ln/>
        </p:spPr>
        <p:txBody>
          <a:bodyPr wrap="square" lIns="0" tIns="0" rIns="0" bIns="0" rtlCol="0" anchor="t"/>
          <a:lstStyle/>
          <a:p>
            <a:pPr indent="0" marL="0">
              <a:buNone/>
            </a:pPr>
            <a:r>
              <a:rPr lang="en-US" sz="1400" dirty="0">
                <a:solidFill>
                  <a:schemeClr val="tx2"/>
                </a:solidFill>
              </a:rPr>
              <a:t>fixable security issues in the first scan, after upgrading two libraries</a:t>
            </a:r>
            <a:endParaRPr lang="en-US" sz="1400" dirty="0"/>
          </a:p>
        </p:txBody>
      </p:sp>
      <p:sp>
        <p:nvSpPr>
          <p:cNvPr id="5" name="Security text"/>
          <p:cNvSpPr txBox="1"/>
          <p:nvPr/>
        </p:nvSpPr>
        <p:spPr>
          <a:xfrm>
            <a:off x="457200" y="2560320"/>
            <a:ext cx="3977640" cy="1463040"/>
          </a:xfrm>
          <a:prstGeom prst="rect">
            <a:avLst/>
          </a:prstGeom>
          <a:noFill/>
          <a:ln/>
        </p:spPr>
        <p:txBody>
          <a:bodyPr wrap="square" lIns="0" tIns="0" rIns="0" bIns="0" rtlCol="0" anchor="t"/>
          <a:lstStyle/>
          <a:p>
            <a:pPr indent="0" marL="0">
              <a:buNone/>
            </a:pPr>
            <a:r>
              <a:rPr lang="en-US" sz="1400" dirty="0">
                <a:solidFill>
                  <a:schemeClr val="tx1"/>
                </a:solidFill>
              </a:rPr>
              <a:t>Trivy scans every image. A serious, fixable problem stops the pipeline.</a:t>
            </a:r>
            <a:endParaRPr lang="en-US" sz="1400" dirty="0"/>
          </a:p>
          <a:p>
            <a:pPr indent="0" marL="0">
              <a:buNone/>
            </a:pPr>
            <a:r>
              <a:rPr lang="en-US" sz="1400" b="1" dirty="0">
                <a:solidFill>
                  <a:schemeClr val="tx1"/>
                </a:solidFill>
              </a:rPr>
              <a:t>Problems with no fix yet are ignored, so one unfixable item cannot freeze every release.</a:t>
            </a:r>
            <a:endParaRPr lang="en-US" sz="1400" dirty="0"/>
          </a:p>
        </p:txBody>
      </p:sp>
      <p:sp>
        <p:nvSpPr>
          <p:cNvPr id="6" name="Lab card 1"/>
          <p:cNvSpPr/>
          <p:nvPr/>
        </p:nvSpPr>
        <p:spPr>
          <a:xfrm>
            <a:off x="4709160" y="1188720"/>
            <a:ext cx="3977640" cy="1371600"/>
          </a:xfrm>
          <a:prstGeom prst="roundRect">
            <a:avLst>
              <a:gd name="adj" fmla="val 5333"/>
            </a:avLst>
          </a:prstGeom>
          <a:solidFill>
            <a:schemeClr val="bg2"/>
          </a:solidFill>
          <a:ln/>
        </p:spPr>
      </p:sp>
      <p:sp>
        <p:nvSpPr>
          <p:cNvPr id="7" name="Lab title 1"/>
          <p:cNvSpPr txBox="1"/>
          <p:nvPr/>
        </p:nvSpPr>
        <p:spPr>
          <a:xfrm>
            <a:off x="4937760" y="1298448"/>
            <a:ext cx="3520440" cy="365760"/>
          </a:xfrm>
          <a:prstGeom prst="rect">
            <a:avLst/>
          </a:prstGeom>
          <a:noFill/>
          <a:ln/>
        </p:spPr>
        <p:txBody>
          <a:bodyPr wrap="square" lIns="0" tIns="0" rIns="0" bIns="0" rtlCol="0" anchor="ctr"/>
          <a:lstStyle/>
          <a:p>
            <a:pPr indent="0" marL="0">
              <a:buNone/>
            </a:pPr>
            <a:r>
              <a:rPr lang="en-US" sz="1600" b="1" dirty="0">
                <a:solidFill>
                  <a:schemeClr val="tx1"/>
                </a:solidFill>
              </a:rPr>
              <a:t>Wrong image tag</a:t>
            </a:r>
            <a:endParaRPr lang="en-US" sz="1600" dirty="0"/>
          </a:p>
        </p:txBody>
      </p:sp>
      <p:sp>
        <p:nvSpPr>
          <p:cNvPr id="8" name="Lab text 1"/>
          <p:cNvSpPr txBox="1"/>
          <p:nvPr/>
        </p:nvSpPr>
        <p:spPr>
          <a:xfrm>
            <a:off x="4937760" y="1691640"/>
            <a:ext cx="3520440" cy="777240"/>
          </a:xfrm>
          <a:prstGeom prst="rect">
            <a:avLst/>
          </a:prstGeom>
          <a:noFill/>
          <a:ln/>
        </p:spPr>
        <p:txBody>
          <a:bodyPr wrap="square" lIns="0" tIns="0" rIns="0" bIns="0" rtlCol="0" anchor="t"/>
          <a:lstStyle/>
          <a:p>
            <a:pPr indent="0" marL="0">
              <a:buNone/>
            </a:pPr>
            <a:r>
              <a:rPr lang="en-US" sz="1400" dirty="0">
                <a:solidFill>
                  <a:schemeClr val="tx2"/>
                </a:solidFill>
              </a:rPr>
              <a:t>Pod shows ImagePullBackOff. Use describe to find the bad tag, then set the right image.</a:t>
            </a:r>
            <a:endParaRPr lang="en-US" sz="1400" dirty="0"/>
          </a:p>
        </p:txBody>
      </p:sp>
      <p:sp>
        <p:nvSpPr>
          <p:cNvPr id="9" name="Lab card 2"/>
          <p:cNvSpPr/>
          <p:nvPr/>
        </p:nvSpPr>
        <p:spPr>
          <a:xfrm>
            <a:off x="4709160" y="2697480"/>
            <a:ext cx="3977640" cy="1371600"/>
          </a:xfrm>
          <a:prstGeom prst="roundRect">
            <a:avLst>
              <a:gd name="adj" fmla="val 5333"/>
            </a:avLst>
          </a:prstGeom>
          <a:solidFill>
            <a:schemeClr val="bg2"/>
          </a:solidFill>
          <a:ln/>
        </p:spPr>
      </p:sp>
      <p:sp>
        <p:nvSpPr>
          <p:cNvPr id="10" name="Lab title 2"/>
          <p:cNvSpPr txBox="1"/>
          <p:nvPr/>
        </p:nvSpPr>
        <p:spPr>
          <a:xfrm>
            <a:off x="4937760" y="2807208"/>
            <a:ext cx="3520440" cy="365760"/>
          </a:xfrm>
          <a:prstGeom prst="rect">
            <a:avLst/>
          </a:prstGeom>
          <a:noFill/>
          <a:ln/>
        </p:spPr>
        <p:txBody>
          <a:bodyPr wrap="square" lIns="0" tIns="0" rIns="0" bIns="0" rtlCol="0" anchor="ctr"/>
          <a:lstStyle/>
          <a:p>
            <a:pPr indent="0" marL="0">
              <a:buNone/>
            </a:pPr>
            <a:r>
              <a:rPr lang="en-US" sz="1600" b="1" dirty="0">
                <a:solidFill>
                  <a:schemeClr val="tx1"/>
                </a:solidFill>
              </a:rPr>
              <a:t>Wrong Service label</a:t>
            </a:r>
            <a:endParaRPr lang="en-US" sz="1600" dirty="0"/>
          </a:p>
        </p:txBody>
      </p:sp>
      <p:sp>
        <p:nvSpPr>
          <p:cNvPr id="11" name="Lab text 2"/>
          <p:cNvSpPr txBox="1"/>
          <p:nvPr/>
        </p:nvSpPr>
        <p:spPr>
          <a:xfrm>
            <a:off x="4937760" y="3200400"/>
            <a:ext cx="3520440" cy="777240"/>
          </a:xfrm>
          <a:prstGeom prst="rect">
            <a:avLst/>
          </a:prstGeom>
          <a:noFill/>
          <a:ln/>
        </p:spPr>
        <p:txBody>
          <a:bodyPr wrap="square" lIns="0" tIns="0" rIns="0" bIns="0" rtlCol="0" anchor="t"/>
          <a:lstStyle/>
          <a:p>
            <a:pPr indent="0" marL="0">
              <a:buNone/>
            </a:pPr>
            <a:r>
              <a:rPr lang="en-US" sz="1400" dirty="0">
                <a:solidFill>
                  <a:schemeClr val="tx2"/>
                </a:solidFill>
              </a:rPr>
              <a:t>Service has no endpoints. Labels match no Pods, so traffic goes nowhere. Fix the selector.</a:t>
            </a:r>
            <a:endParaRPr lang="en-US" sz="1400" dirty="0"/>
          </a:p>
        </p:txBody>
      </p:sp>
      <p:sp>
        <p:nvSpPr>
          <p:cNvPr id="12" name="Lab caption"/>
          <p:cNvSpPr txBox="1"/>
          <p:nvPr/>
        </p:nvSpPr>
        <p:spPr>
          <a:xfrm>
            <a:off x="4709160" y="4206240"/>
            <a:ext cx="3977640" cy="548640"/>
          </a:xfrm>
          <a:prstGeom prst="rect">
            <a:avLst/>
          </a:prstGeom>
          <a:noFill/>
          <a:ln/>
        </p:spPr>
        <p:txBody>
          <a:bodyPr wrap="square" lIns="0" tIns="0" rIns="0" bIns="0" rtlCol="0" anchor="t"/>
          <a:lstStyle/>
          <a:p>
            <a:pPr indent="0" marL="0">
              <a:buNone/>
            </a:pPr>
            <a:r>
              <a:rPr lang="en-US" sz="1400" i="1" dirty="0">
                <a:solidFill>
                  <a:schemeClr val="tx2"/>
                </a:solidFill>
              </a:rPr>
              <a:t>I broke things on purpose and fixed them live to learn how Kubernetes problems look.</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Recap and live demo</a:t>
            </a:r>
            <a:endParaRPr lang="en-US" sz="3200" dirty="0"/>
          </a:p>
        </p:txBody>
      </p:sp>
      <p:sp>
        <p:nvSpPr>
          <p:cNvPr id="3" name="Learned heading"/>
          <p:cNvSpPr txBox="1"/>
          <p:nvPr/>
        </p:nvSpPr>
        <p:spPr>
          <a:xfrm>
            <a:off x="457200" y="1097280"/>
            <a:ext cx="4114800" cy="365760"/>
          </a:xfrm>
          <a:prstGeom prst="rect">
            <a:avLst/>
          </a:prstGeom>
          <a:noFill/>
          <a:ln/>
        </p:spPr>
        <p:txBody>
          <a:bodyPr wrap="square" lIns="0" tIns="0" rIns="0" bIns="0" rtlCol="0" anchor="ctr"/>
          <a:lstStyle/>
          <a:p>
            <a:pPr indent="0" marL="0">
              <a:buNone/>
            </a:pPr>
            <a:r>
              <a:rPr lang="en-US" sz="2000" b="1" dirty="0">
                <a:solidFill>
                  <a:schemeClr val="accent1"/>
                </a:solidFill>
              </a:rPr>
              <a:t>What I learned</a:t>
            </a:r>
            <a:endParaRPr lang="en-US" sz="2000" dirty="0"/>
          </a:p>
        </p:txBody>
      </p:sp>
      <p:sp>
        <p:nvSpPr>
          <p:cNvPr id="4" name="Learned circle 1"/>
          <p:cNvSpPr/>
          <p:nvPr/>
        </p:nvSpPr>
        <p:spPr>
          <a:xfrm>
            <a:off x="457200" y="1691640"/>
            <a:ext cx="411480" cy="411480"/>
          </a:xfrm>
          <a:prstGeom prst="ellipse">
            <a:avLst/>
          </a:prstGeom>
          <a:solidFill>
            <a:schemeClr val="accent1"/>
          </a:solidFill>
          <a:ln/>
        </p:spPr>
      </p:sp>
      <p:sp>
        <p:nvSpPr>
          <p:cNvPr id="5" name="Learned number 1"/>
          <p:cNvSpPr txBox="1"/>
          <p:nvPr/>
        </p:nvSpPr>
        <p:spPr>
          <a:xfrm>
            <a:off x="457200" y="16916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Learned text 1"/>
          <p:cNvSpPr txBox="1"/>
          <p:nvPr/>
        </p:nvSpPr>
        <p:spPr>
          <a:xfrm>
            <a:off x="1051560" y="1645920"/>
            <a:ext cx="3520440" cy="914400"/>
          </a:xfrm>
          <a:prstGeom prst="rect">
            <a:avLst/>
          </a:prstGeom>
          <a:noFill/>
          <a:ln/>
        </p:spPr>
        <p:txBody>
          <a:bodyPr wrap="square" lIns="0" tIns="0" rIns="0" bIns="0" rtlCol="0" anchor="t"/>
          <a:lstStyle/>
          <a:p>
            <a:pPr indent="0" marL="0">
              <a:buNone/>
            </a:pPr>
            <a:r>
              <a:rPr lang="en-US" sz="1600" b="1" dirty="0">
                <a:solidFill>
                  <a:schemeClr val="tx1"/>
                </a:solidFill>
              </a:rPr>
              <a:t>Automate the checks</a:t>
            </a:r>
            <a:endParaRPr lang="en-US" sz="1600" dirty="0"/>
          </a:p>
          <a:p>
            <a:pPr indent="0" marL="0">
              <a:buNone/>
            </a:pPr>
            <a:r>
              <a:rPr lang="en-US" sz="1400" dirty="0">
                <a:solidFill>
                  <a:schemeClr val="tx2"/>
                </a:solidFill>
              </a:rPr>
              <a:t>Tests and scans run on every push, so mistakes are caught early.</a:t>
            </a:r>
            <a:endParaRPr lang="en-US" sz="1600" dirty="0"/>
          </a:p>
        </p:txBody>
      </p:sp>
      <p:sp>
        <p:nvSpPr>
          <p:cNvPr id="7" name="Learned circle 2"/>
          <p:cNvSpPr/>
          <p:nvPr/>
        </p:nvSpPr>
        <p:spPr>
          <a:xfrm>
            <a:off x="457200" y="2743200"/>
            <a:ext cx="411480" cy="411480"/>
          </a:xfrm>
          <a:prstGeom prst="ellipse">
            <a:avLst/>
          </a:prstGeom>
          <a:solidFill>
            <a:schemeClr val="accent1"/>
          </a:solidFill>
          <a:ln/>
        </p:spPr>
      </p:sp>
      <p:sp>
        <p:nvSpPr>
          <p:cNvPr id="8" name="Learned number 2"/>
          <p:cNvSpPr txBox="1"/>
          <p:nvPr/>
        </p:nvSpPr>
        <p:spPr>
          <a:xfrm>
            <a:off x="457200" y="2743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Learned text 2"/>
          <p:cNvSpPr txBox="1"/>
          <p:nvPr/>
        </p:nvSpPr>
        <p:spPr>
          <a:xfrm>
            <a:off x="1051560" y="2697480"/>
            <a:ext cx="3520440" cy="914400"/>
          </a:xfrm>
          <a:prstGeom prst="rect">
            <a:avLst/>
          </a:prstGeom>
          <a:noFill/>
          <a:ln/>
        </p:spPr>
        <p:txBody>
          <a:bodyPr wrap="square" lIns="0" tIns="0" rIns="0" bIns="0" rtlCol="0" anchor="t"/>
          <a:lstStyle/>
          <a:p>
            <a:pPr indent="0" marL="0">
              <a:buNone/>
            </a:pPr>
            <a:r>
              <a:rPr lang="en-US" sz="1600" b="1" dirty="0">
                <a:solidFill>
                  <a:schemeClr val="tx1"/>
                </a:solidFill>
              </a:rPr>
              <a:t>Package once, run anywhere</a:t>
            </a:r>
            <a:endParaRPr lang="en-US" sz="1600" dirty="0"/>
          </a:p>
          <a:p>
            <a:pPr indent="0" marL="0">
              <a:buNone/>
            </a:pPr>
            <a:r>
              <a:rPr lang="en-US" sz="1400" dirty="0">
                <a:solidFill>
                  <a:schemeClr val="tx2"/>
                </a:solidFill>
              </a:rPr>
              <a:t>Docker makes the app behave the same on every machine.</a:t>
            </a:r>
            <a:endParaRPr lang="en-US" sz="1600" dirty="0"/>
          </a:p>
        </p:txBody>
      </p:sp>
      <p:sp>
        <p:nvSpPr>
          <p:cNvPr id="10" name="Learned circle 3"/>
          <p:cNvSpPr/>
          <p:nvPr/>
        </p:nvSpPr>
        <p:spPr>
          <a:xfrm>
            <a:off x="457200" y="3794760"/>
            <a:ext cx="411480" cy="411480"/>
          </a:xfrm>
          <a:prstGeom prst="ellipse">
            <a:avLst/>
          </a:prstGeom>
          <a:solidFill>
            <a:schemeClr val="accent1"/>
          </a:solidFill>
          <a:ln/>
        </p:spPr>
      </p:sp>
      <p:sp>
        <p:nvSpPr>
          <p:cNvPr id="11" name="Learned number 3"/>
          <p:cNvSpPr txBox="1"/>
          <p:nvPr/>
        </p:nvSpPr>
        <p:spPr>
          <a:xfrm>
            <a:off x="457200" y="3794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Learned text 3"/>
          <p:cNvSpPr txBox="1"/>
          <p:nvPr/>
        </p:nvSpPr>
        <p:spPr>
          <a:xfrm>
            <a:off x="1051560" y="3749040"/>
            <a:ext cx="3520440" cy="914400"/>
          </a:xfrm>
          <a:prstGeom prst="rect">
            <a:avLst/>
          </a:prstGeom>
          <a:noFill/>
          <a:ln/>
        </p:spPr>
        <p:txBody>
          <a:bodyPr wrap="square" lIns="0" tIns="0" rIns="0" bIns="0" rtlCol="0" anchor="t"/>
          <a:lstStyle/>
          <a:p>
            <a:pPr indent="0" marL="0">
              <a:buNone/>
            </a:pPr>
            <a:r>
              <a:rPr lang="en-US" sz="1600" b="1" dirty="0">
                <a:solidFill>
                  <a:schemeClr val="tx1"/>
                </a:solidFill>
              </a:rPr>
              <a:t>Run it, then watch it</a:t>
            </a:r>
            <a:endParaRPr lang="en-US" sz="1600" dirty="0"/>
          </a:p>
          <a:p>
            <a:pPr indent="0" marL="0">
              <a:buNone/>
            </a:pPr>
            <a:r>
              <a:rPr lang="en-US" sz="1400" dirty="0">
                <a:solidFill>
                  <a:schemeClr val="tx2"/>
                </a:solidFill>
              </a:rPr>
              <a:t>Kubernetes keeps it alive and monitoring shows when something is wrong.</a:t>
            </a:r>
            <a:endParaRPr lang="en-US" sz="1600" dirty="0"/>
          </a:p>
        </p:txBody>
      </p:sp>
      <p:sp>
        <p:nvSpPr>
          <p:cNvPr id="13" name="Demo card"/>
          <p:cNvSpPr/>
          <p:nvPr/>
        </p:nvSpPr>
        <p:spPr>
          <a:xfrm>
            <a:off x="4937760" y="1188720"/>
            <a:ext cx="3749040" cy="3383280"/>
          </a:xfrm>
          <a:prstGeom prst="roundRect">
            <a:avLst>
              <a:gd name="adj" fmla="val 2162"/>
            </a:avLst>
          </a:prstGeom>
          <a:solidFill>
            <a:schemeClr val="tx1"/>
          </a:solidFill>
          <a:ln/>
        </p:spPr>
      </p:sp>
      <p:sp>
        <p:nvSpPr>
          <p:cNvPr id="14" name="Demo heading"/>
          <p:cNvSpPr txBox="1"/>
          <p:nvPr/>
        </p:nvSpPr>
        <p:spPr>
          <a:xfrm>
            <a:off x="5212080" y="1371600"/>
            <a:ext cx="3200400" cy="365760"/>
          </a:xfrm>
          <a:prstGeom prst="rect">
            <a:avLst/>
          </a:prstGeom>
          <a:noFill/>
          <a:ln/>
        </p:spPr>
        <p:txBody>
          <a:bodyPr wrap="square" lIns="0" tIns="0" rIns="0" bIns="0" rtlCol="0" anchor="ctr"/>
          <a:lstStyle/>
          <a:p>
            <a:pPr indent="0" marL="0">
              <a:buNone/>
            </a:pPr>
            <a:r>
              <a:rPr lang="en-US" sz="1800" b="1" dirty="0">
                <a:solidFill>
                  <a:schemeClr val="bg1"/>
                </a:solidFill>
              </a:rPr>
              <a:t>Live demo in 5 steps</a:t>
            </a:r>
            <a:endParaRPr lang="en-US" sz="1800" dirty="0"/>
          </a:p>
        </p:txBody>
      </p:sp>
      <p:sp>
        <p:nvSpPr>
          <p:cNvPr id="15" name="Demo steps"/>
          <p:cNvSpPr txBox="1"/>
          <p:nvPr/>
        </p:nvSpPr>
        <p:spPr>
          <a:xfrm>
            <a:off x="5212080" y="1920240"/>
            <a:ext cx="3200400" cy="2468880"/>
          </a:xfrm>
          <a:prstGeom prst="rect">
            <a:avLst/>
          </a:prstGeom>
          <a:noFill/>
          <a:ln/>
        </p:spPr>
        <p:txBody>
          <a:bodyPr wrap="square" lIns="0" tIns="0" rIns="0" bIns="0" rtlCol="0" anchor="t"/>
          <a:lstStyle/>
          <a:p>
            <a:pPr marL="342900" indent="-342900">
              <a:spcAft>
                <a:spcPts val="1600"/>
              </a:spcAft>
              <a:buSzPct val="100000"/>
              <a:buFont typeface="+mj-lt"/>
              <a:buAutoNum type="arabicPeriod" startAt="1"/>
            </a:pPr>
            <a:r>
              <a:rPr lang="en-US" sz="1600" dirty="0">
                <a:solidFill>
                  <a:schemeClr val="bg1"/>
                </a:solidFill>
              </a:rPr>
              <a:t>Create a task in the app</a:t>
            </a:r>
            <a:endParaRPr lang="en-US" sz="1600" dirty="0"/>
          </a:p>
          <a:p>
            <a:pPr marL="342900" indent="-342900">
              <a:spcAft>
                <a:spcPts val="1600"/>
              </a:spcAft>
              <a:buSzPct val="100000"/>
              <a:buFont typeface="+mj-lt"/>
              <a:buAutoNum type="arabicPeriod" startAt="1"/>
            </a:pPr>
            <a:r>
              <a:rPr lang="en-US" sz="1600" dirty="0">
                <a:solidFill>
                  <a:schemeClr val="bg1"/>
                </a:solidFill>
              </a:rPr>
              <a:t>Push a small code change</a:t>
            </a:r>
            <a:endParaRPr lang="en-US" sz="1600" dirty="0"/>
          </a:p>
          <a:p>
            <a:pPr marL="342900" indent="-342900">
              <a:spcAft>
                <a:spcPts val="1600"/>
              </a:spcAft>
              <a:buSzPct val="100000"/>
              <a:buFont typeface="+mj-lt"/>
              <a:buAutoNum type="arabicPeriod" startAt="1"/>
            </a:pPr>
            <a:r>
              <a:rPr lang="en-US" sz="1600" dirty="0">
                <a:solidFill>
                  <a:schemeClr val="bg1"/>
                </a:solidFill>
              </a:rPr>
              <a:t>Watch the pipeline turn green</a:t>
            </a:r>
            <a:endParaRPr lang="en-US" sz="1600" dirty="0"/>
          </a:p>
          <a:p>
            <a:pPr marL="342900" indent="-342900">
              <a:spcAft>
                <a:spcPts val="1600"/>
              </a:spcAft>
              <a:buSzPct val="100000"/>
              <a:buFont typeface="+mj-lt"/>
              <a:buAutoNum type="arabicPeriod" startAt="1"/>
            </a:pPr>
            <a:r>
              <a:rPr lang="en-US" sz="1600" dirty="0">
                <a:solidFill>
                  <a:schemeClr val="bg1"/>
                </a:solidFill>
              </a:rPr>
              <a:t>Show every pod Running in Kubernetes</a:t>
            </a:r>
            <a:endParaRPr lang="en-US" sz="1600" dirty="0"/>
          </a:p>
          <a:p>
            <a:pPr marL="342900" indent="-342900">
              <a:spcAft>
                <a:spcPts val="1600"/>
              </a:spcAft>
              <a:buSzPct val="100000"/>
              <a:buFont typeface="+mj-lt"/>
              <a:buAutoNum type="arabicPeriod" startAt="1"/>
            </a:pPr>
            <a:r>
              <a:rPr lang="en-US" sz="1600" dirty="0">
                <a:solidFill>
                  <a:schemeClr val="bg1"/>
                </a:solidFill>
              </a:rPr>
              <a:t>Break a Service, then fix it live</a:t>
            </a:r>
            <a:endParaRPr lang="en-US" sz="1600" dirty="0"/>
          </a:p>
        </p:txBody>
      </p:sp>
    </p:spTree>
  </p:cSld>
  <p:clrMapOvr>
    <a:masterClrMapping/>
  </p:clrMapOvr>
</p:sld>
</file>

<file path=ppt/theme/theme1.xml><?xml version="1.0" encoding="utf-8"?>
<a:theme xmlns:a="http://schemas.openxmlformats.org/drawingml/2006/main" name="TaskBoard DevOps">
  <a:themeElements>
    <a:clrScheme name="TaskBoard DevOps">
      <a:dk1>
        <a:srgbClr val="0F172A"/>
      </a:dk1>
      <a:lt1>
        <a:srgbClr val="FFFFFF"/>
      </a:lt1>
      <a:dk2>
        <a:srgbClr val="334155"/>
      </a:dk2>
      <a:lt2>
        <a:srgbClr val="F1F5F9"/>
      </a:lt2>
      <a:accent1>
        <a:srgbClr val="0D9488"/>
      </a:accent1>
      <a:accent2>
        <a:srgbClr val="F59E0B"/>
      </a:accent2>
      <a:accent3>
        <a:srgbClr val="2563EB"/>
      </a:accent3>
      <a:accent4>
        <a:srgbClr val="7C3AED"/>
      </a:accent4>
      <a:accent5>
        <a:srgbClr val="DC2626"/>
      </a:accent5>
      <a:accent6>
        <a:srgbClr val="16A34A"/>
      </a:accent6>
      <a:hlink>
        <a:srgbClr val="2563EB"/>
      </a:hlink>
      <a:folHlink>
        <a:srgbClr val="7C3AED"/>
      </a:folHlink>
    </a:clrScheme>
    <a:fontScheme name="TaskBoard Dev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TaskBoard - DevOps Capstone</dc:title>
  <dc:subject>PptxGenJS Presentation</dc:subject>
  <dc:creator>PptxGenJS</dc:creator>
  <cp:lastModifiedBy>PptxGenJS</cp:lastModifiedBy>
  <cp:revision>1</cp:revision>
  <dcterms:created xsi:type="dcterms:W3CDTF">2026-10-16T12:09:34Z</dcterms:created>
  <dcterms:modified xsi:type="dcterms:W3CDTF">2026-10-16T12:09:34Z</dcterms:modified>
</cp:coreProperties>
</file>